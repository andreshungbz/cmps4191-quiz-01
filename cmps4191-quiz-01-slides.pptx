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s/slide3.xml" ContentType="application/vnd.openxmlformats-officedocument.presentationml.slide+xml"/>
  <Override PartName="/ppt/slideLayouts/slideLayout4.xml" ContentType="application/vnd.openxmlformats-officedocument.presentationml.slideLayout+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s/slide12.xml" ContentType="application/vnd.openxmlformats-officedocument.presentationml.slide+xml"/>
  <Override PartName="/ppt/notesSlides/notesSlide12.xml" ContentType="application/vnd.openxmlformats-officedocument.presentationml.notes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viewProps.xml" ContentType="application/vnd.openxmlformats-officedocument.presentationml.viewProps+xml"/>
  <Override PartName="/ppt/slides/slide8.xml" ContentType="application/vnd.openxmlformats-officedocument.presentationml.slide+xml"/>
  <Override PartName="/ppt/notesSlides/notesSlide8.xml" ContentType="application/vnd.openxmlformats-officedocument.presentationml.notesSlide+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8.xml" ContentType="application/vnd.openxmlformats-officedocument.presentationml.slideLayout+xml"/>
  <Override PartName="/docProps/core.xml" ContentType="application/vnd.openxmlformats-package.core-properties+xml"/>
  <Override PartName="/ppt/slideLayouts/slideLayout6.xml" ContentType="application/vnd.openxmlformats-officedocument.presentationml.slideLayout+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notesSlides/notesSlide1.xml" ContentType="application/vnd.openxmlformats-officedocument.presentationml.notesSlide+xml"/>
  <Override PartName="/ppt/slides/slide11.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6.xml" ContentType="application/vnd.openxmlformats-officedocument.presentationml.notesSlide+xml"/>
  <Override PartName="/ppt/presentation.xml" ContentType="application/vnd.openxmlformats-officedocument.presentationml.presentation.main+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strictFirstAndLastChars="0">
  <p:sldMasterIdLst>
    <p:sldMasterId id="2147483648" r:id="rId1"/>
  </p:sldMasterIdLst>
  <p:notesMasterIdLst>
    <p:notesMasterId r:id="rId17"/>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Lst>
  <p:sldSz cx="9144000" cy="51435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notesMaster" Target="notesMasters/notesMaster1.xml"/><Relationship Id="rId18" Type="http://schemas.openxmlformats.org/officeDocument/2006/relationships/presProps" Target="presProps.xml" /><Relationship Id="rId19" Type="http://schemas.openxmlformats.org/officeDocument/2006/relationships/tableStyles" Target="tableStyles.xml" /><Relationship Id="rId20"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spTree>
      <p:nvGrpSpPr>
        <p:cNvPr id="1" name=""/>
        <p:cNvGrpSpPr/>
        <p:nvPr/>
      </p:nvGrpSpPr>
      <p:grpSpPr bwMode="auto">
        <a:xfrm>
          <a:off x="0" y="0"/>
          <a:ext cx="0" cy="0"/>
          <a:chOff x="0" y="0"/>
          <a:chExt cx="0" cy="0"/>
        </a:xfrm>
      </p:grpSpPr>
      <p:sp>
        <p:nvSpPr>
          <p:cNvPr id="2044644449" name="Google Shape;3;n"/>
          <p:cNvSpPr/>
          <p:nvPr>
            <p:ph type="sldImg" idx="2"/>
          </p:nvPr>
        </p:nvSpPr>
        <p:spPr bwMode="auto">
          <a:xfrm>
            <a:off x="381300" y="685800"/>
            <a:ext cx="609607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34793384" name="Google Shape;4;n"/>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pPr>
              <a:defRPr/>
            </a:pPr>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35983870" name="Google Shape;51;p:notes"/>
          <p:cNvSpPr/>
          <p:nvPr>
            <p:ph type="sldImg" idx="2"/>
          </p:nvPr>
        </p:nvSpPr>
        <p:spPr bwMode="auto">
          <a:xfrm>
            <a:off x="381300" y="685800"/>
            <a:ext cx="609607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937006045" name="Google Shape;52;p: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23086932" name="Google Shape;57;g3f89d777628_0_0: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329620020" name="Google Shape;58;g3f89d777628_0_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48959001" name="Google Shape;67;g3f89d777628_0_10: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74350079" name="Google Shape;68;g3f89d777628_0_1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70641960" name="Google Shape;74;g3f89d777628_0_16: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88489741" name="Google Shape;75;g3f89d777628_0_16: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77811581" name="Google Shape;83;g3f89d777628_0_34: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585675948" name="Google Shape;84;g3f89d777628_0_34: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99409903" name="Google Shape;95;g3f89d777628_0_45: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349165412" name="Google Shape;96;g3f89d777628_0_45: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62327342" name="Google Shape;105;g3f89d777628_0_52: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244944624" name="Google Shape;106;g3f89d777628_0_52: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50634853" name="Google Shape;118;g3f89d777628_0_7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758209621" name="Google Shape;119;g3f89d777628_0_71: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842955788" name="Google Shape;128;g3f89d777628_0_80: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38781807" name="Google Shape;129;g3f89d777628_0_8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34379738" name="Google Shape;145;g3f89d777628_0_99: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518452072" name="Google Shape;146;g3f89d777628_0_99: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79434990" name="Google Shape;157;g3f89d777628_0_11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198166309" name="Google Shape;158;g3f89d777628_0_111: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45304018" name="Google Shape;168;g3f8a0dc67a2_0_9: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939021259" name="Google Shape;169;g3f8a0dc67a2_0_9: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95878792" name="Google Shape;175;g3f8a0dc67a2_0_15: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292592470" name="Google Shape;176;g3f8a0dc67a2_0_15: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slide" preserve="0" showMasterPhAnim="0" showMasterSp="1" type="title" userDrawn="1">
  <p:cSld name="TITLE">
    <p:spTree>
      <p:nvGrpSpPr>
        <p:cNvPr id="1" name=""/>
        <p:cNvGrpSpPr/>
        <p:nvPr/>
      </p:nvGrpSpPr>
      <p:grpSpPr bwMode="auto">
        <a:xfrm>
          <a:off x="0" y="0"/>
          <a:ext cx="0" cy="0"/>
          <a:chOff x="0" y="0"/>
          <a:chExt cx="0" cy="0"/>
        </a:xfrm>
      </p:grpSpPr>
      <p:sp>
        <p:nvSpPr>
          <p:cNvPr id="1624416783" name="Google Shape;10;p2"/>
          <p:cNvSpPr txBox="1"/>
          <p:nvPr>
            <p:ph type="ctrTitle"/>
          </p:nvPr>
        </p:nvSpPr>
        <p:spPr bwMode="auto">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pPr>
              <a:defRPr/>
            </a:pPr>
            <a:endParaRPr/>
          </a:p>
        </p:txBody>
      </p:sp>
      <p:sp>
        <p:nvSpPr>
          <p:cNvPr id="1772161276" name="Google Shape;11;p2"/>
          <p:cNvSpPr txBox="1"/>
          <p:nvPr>
            <p:ph type="subTitle" idx="1"/>
          </p:nvPr>
        </p:nvSpPr>
        <p:spPr bwMode="auto">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pPr>
              <a:defRPr/>
            </a:pPr>
            <a:endParaRPr/>
          </a:p>
        </p:txBody>
      </p:sp>
      <p:sp>
        <p:nvSpPr>
          <p:cNvPr id="1544215298" name="Google Shape;12;p2"/>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header" preserve="0" showMasterPhAnim="0" showMasterSp="1" type="secHead" userDrawn="1">
  <p:cSld name="SECTION_HEADER">
    <p:spTree>
      <p:nvGrpSpPr>
        <p:cNvPr id="1" name=""/>
        <p:cNvGrpSpPr/>
        <p:nvPr/>
      </p:nvGrpSpPr>
      <p:grpSpPr bwMode="auto">
        <a:xfrm>
          <a:off x="0" y="0"/>
          <a:ext cx="0" cy="0"/>
          <a:chOff x="0" y="0"/>
          <a:chExt cx="0" cy="0"/>
        </a:xfrm>
      </p:grpSpPr>
      <p:sp>
        <p:nvSpPr>
          <p:cNvPr id="1500644708" name="Google Shape;14;p3"/>
          <p:cNvSpPr txBox="1"/>
          <p:nvPr>
            <p:ph type="title"/>
          </p:nvPr>
        </p:nvSpPr>
        <p:spPr bwMode="auto">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pPr>
              <a:defRPr/>
            </a:pPr>
            <a:endParaRPr/>
          </a:p>
        </p:txBody>
      </p:sp>
      <p:sp>
        <p:nvSpPr>
          <p:cNvPr id="1474894989" name="Google Shape;15;p3"/>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body" preserve="0" showMasterPhAnim="0" showMasterSp="1" type="tx" userDrawn="1">
  <p:cSld name="TITLE_AND_BODY">
    <p:spTree>
      <p:nvGrpSpPr>
        <p:cNvPr id="1" name=""/>
        <p:cNvGrpSpPr/>
        <p:nvPr/>
      </p:nvGrpSpPr>
      <p:grpSpPr bwMode="auto">
        <a:xfrm>
          <a:off x="0" y="0"/>
          <a:ext cx="0" cy="0"/>
          <a:chOff x="0" y="0"/>
          <a:chExt cx="0" cy="0"/>
        </a:xfrm>
      </p:grpSpPr>
      <p:sp>
        <p:nvSpPr>
          <p:cNvPr id="1830702222" name="Google Shape;17;p4"/>
          <p:cNvSpPr txBox="1"/>
          <p:nvPr>
            <p:ph type="title"/>
          </p:nvPr>
        </p:nvSpPr>
        <p:spPr bwMode="auto">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defRPr/>
            </a:pPr>
            <a:endParaRPr/>
          </a:p>
        </p:txBody>
      </p:sp>
      <p:sp>
        <p:nvSpPr>
          <p:cNvPr id="1961621533" name="Google Shape;18;p4"/>
          <p:cNvSpPr txBox="1"/>
          <p:nvPr>
            <p:ph type="body" idx="1"/>
          </p:nvPr>
        </p:nvSpPr>
        <p:spPr bwMode="auto">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a:defRPr/>
            </a:pPr>
            <a:endParaRPr/>
          </a:p>
        </p:txBody>
      </p:sp>
      <p:sp>
        <p:nvSpPr>
          <p:cNvPr id="859549650" name="Google Shape;19;p4"/>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two columns" preserve="0" showMasterPhAnim="0" showMasterSp="1" type="twoColTx" userDrawn="1">
  <p:cSld name="TITLE_AND_TWO_COLUMNS">
    <p:spTree>
      <p:nvGrpSpPr>
        <p:cNvPr id="1" name=""/>
        <p:cNvGrpSpPr/>
        <p:nvPr/>
      </p:nvGrpSpPr>
      <p:grpSpPr bwMode="auto">
        <a:xfrm>
          <a:off x="0" y="0"/>
          <a:ext cx="0" cy="0"/>
          <a:chOff x="0" y="0"/>
          <a:chExt cx="0" cy="0"/>
        </a:xfrm>
      </p:grpSpPr>
      <p:sp>
        <p:nvSpPr>
          <p:cNvPr id="1541793385" name="Google Shape;21;p5"/>
          <p:cNvSpPr txBox="1"/>
          <p:nvPr>
            <p:ph type="title"/>
          </p:nvPr>
        </p:nvSpPr>
        <p:spPr bwMode="auto">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defRPr/>
            </a:pPr>
            <a:endParaRPr/>
          </a:p>
        </p:txBody>
      </p:sp>
      <p:sp>
        <p:nvSpPr>
          <p:cNvPr id="512004681" name="Google Shape;22;p5"/>
          <p:cNvSpPr txBox="1"/>
          <p:nvPr>
            <p:ph type="body" idx="1"/>
          </p:nvPr>
        </p:nvSpPr>
        <p:spPr bwMode="auto">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a:defRPr/>
            </a:pPr>
            <a:endParaRPr/>
          </a:p>
        </p:txBody>
      </p:sp>
      <p:sp>
        <p:nvSpPr>
          <p:cNvPr id="1317984562" name="Google Shape;23;p5"/>
          <p:cNvSpPr txBox="1"/>
          <p:nvPr>
            <p:ph type="body" idx="2"/>
          </p:nvPr>
        </p:nvSpPr>
        <p:spPr bwMode="auto">
          <a:xfrm>
            <a:off x="4832399"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a:defRPr/>
            </a:pPr>
            <a:endParaRPr/>
          </a:p>
        </p:txBody>
      </p:sp>
      <p:sp>
        <p:nvSpPr>
          <p:cNvPr id="1907735356" name="Google Shape;24;p5"/>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only" preserve="0" showMasterPhAnim="0" showMasterSp="1" type="titleOnly" userDrawn="1">
  <p:cSld name="TITLE_ONLY">
    <p:spTree>
      <p:nvGrpSpPr>
        <p:cNvPr id="1" name=""/>
        <p:cNvGrpSpPr/>
        <p:nvPr/>
      </p:nvGrpSpPr>
      <p:grpSpPr bwMode="auto">
        <a:xfrm>
          <a:off x="0" y="0"/>
          <a:ext cx="0" cy="0"/>
          <a:chOff x="0" y="0"/>
          <a:chExt cx="0" cy="0"/>
        </a:xfrm>
      </p:grpSpPr>
      <p:sp>
        <p:nvSpPr>
          <p:cNvPr id="749820118" name="Google Shape;26;p6"/>
          <p:cNvSpPr txBox="1"/>
          <p:nvPr>
            <p:ph type="title"/>
          </p:nvPr>
        </p:nvSpPr>
        <p:spPr bwMode="auto">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defRPr/>
            </a:pPr>
            <a:endParaRPr/>
          </a:p>
        </p:txBody>
      </p:sp>
      <p:sp>
        <p:nvSpPr>
          <p:cNvPr id="873001506" name="Google Shape;27;p6"/>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One column text" preserve="0" showMasterPhAnim="0" showMasterSp="1" userDrawn="1">
  <p:cSld name="ONE_COLUMN_TEXT">
    <p:spTree>
      <p:nvGrpSpPr>
        <p:cNvPr id="1" name=""/>
        <p:cNvGrpSpPr/>
        <p:nvPr/>
      </p:nvGrpSpPr>
      <p:grpSpPr bwMode="auto">
        <a:xfrm>
          <a:off x="0" y="0"/>
          <a:ext cx="0" cy="0"/>
          <a:chOff x="0" y="0"/>
          <a:chExt cx="0" cy="0"/>
        </a:xfrm>
      </p:grpSpPr>
      <p:sp>
        <p:nvSpPr>
          <p:cNvPr id="458768303" name="Google Shape;29;p7"/>
          <p:cNvSpPr txBox="1"/>
          <p:nvPr>
            <p:ph type="title"/>
          </p:nvPr>
        </p:nvSpPr>
        <p:spPr bwMode="auto">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pPr>
              <a:defRPr/>
            </a:pPr>
            <a:endParaRPr/>
          </a:p>
        </p:txBody>
      </p:sp>
      <p:sp>
        <p:nvSpPr>
          <p:cNvPr id="1799967416" name="Google Shape;30;p7"/>
          <p:cNvSpPr txBox="1"/>
          <p:nvPr>
            <p:ph type="body" idx="1"/>
          </p:nvPr>
        </p:nvSpPr>
        <p:spPr bwMode="auto">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a:defRPr/>
            </a:pPr>
            <a:endParaRPr/>
          </a:p>
        </p:txBody>
      </p:sp>
      <p:sp>
        <p:nvSpPr>
          <p:cNvPr id="1339620980" name="Google Shape;31;p7"/>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Main point" preserve="0" showMasterPhAnim="0" showMasterSp="1" userDrawn="1">
  <p:cSld name="MAIN_POINT">
    <p:spTree>
      <p:nvGrpSpPr>
        <p:cNvPr id="1" name=""/>
        <p:cNvGrpSpPr/>
        <p:nvPr/>
      </p:nvGrpSpPr>
      <p:grpSpPr bwMode="auto">
        <a:xfrm>
          <a:off x="0" y="0"/>
          <a:ext cx="0" cy="0"/>
          <a:chOff x="0" y="0"/>
          <a:chExt cx="0" cy="0"/>
        </a:xfrm>
      </p:grpSpPr>
      <p:sp>
        <p:nvSpPr>
          <p:cNvPr id="1907971767" name="Google Shape;33;p8"/>
          <p:cNvSpPr txBox="1"/>
          <p:nvPr>
            <p:ph type="title"/>
          </p:nvPr>
        </p:nvSpPr>
        <p:spPr bwMode="auto">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pPr>
              <a:defRPr/>
            </a:pPr>
            <a:endParaRPr/>
          </a:p>
        </p:txBody>
      </p:sp>
      <p:sp>
        <p:nvSpPr>
          <p:cNvPr id="130105495" name="Google Shape;34;p8"/>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title and description" preserve="0" showMasterPhAnim="0" showMasterSp="1" userDrawn="1">
  <p:cSld name="SECTION_TITLE_AND_DESCRIPTION">
    <p:spTree>
      <p:nvGrpSpPr>
        <p:cNvPr id="1" name=""/>
        <p:cNvGrpSpPr/>
        <p:nvPr/>
      </p:nvGrpSpPr>
      <p:grpSpPr bwMode="auto">
        <a:xfrm>
          <a:off x="0" y="0"/>
          <a:ext cx="0" cy="0"/>
          <a:chOff x="0" y="0"/>
          <a:chExt cx="0" cy="0"/>
        </a:xfrm>
      </p:grpSpPr>
      <p:sp>
        <p:nvSpPr>
          <p:cNvPr id="107351221" name="Google Shape;36;p9"/>
          <p:cNvSpPr/>
          <p:nvPr/>
        </p:nvSpPr>
        <p:spPr bwMode="auto">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771246812" name="Google Shape;37;p9"/>
          <p:cNvSpPr txBox="1"/>
          <p:nvPr>
            <p:ph type="title"/>
          </p:nvPr>
        </p:nvSpPr>
        <p:spPr bwMode="auto">
          <a:xfrm>
            <a:off x="265500" y="1233175"/>
            <a:ext cx="4045199"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pPr>
              <a:defRPr/>
            </a:pPr>
            <a:endParaRPr/>
          </a:p>
        </p:txBody>
      </p:sp>
      <p:sp>
        <p:nvSpPr>
          <p:cNvPr id="1129450914" name="Google Shape;38;p9"/>
          <p:cNvSpPr txBox="1"/>
          <p:nvPr>
            <p:ph type="subTitle" idx="1"/>
          </p:nvPr>
        </p:nvSpPr>
        <p:spPr bwMode="auto">
          <a:xfrm>
            <a:off x="265500" y="2803075"/>
            <a:ext cx="4045199" cy="1235099"/>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pPr>
              <a:defRPr/>
            </a:pPr>
            <a:endParaRPr/>
          </a:p>
        </p:txBody>
      </p:sp>
      <p:sp>
        <p:nvSpPr>
          <p:cNvPr id="60866766" name="Google Shape;39;p9"/>
          <p:cNvSpPr txBox="1"/>
          <p:nvPr>
            <p:ph type="body" idx="2"/>
          </p:nvPr>
        </p:nvSpPr>
        <p:spPr bwMode="auto">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a:defRPr/>
            </a:pPr>
            <a:endParaRPr/>
          </a:p>
        </p:txBody>
      </p:sp>
      <p:sp>
        <p:nvSpPr>
          <p:cNvPr id="1639374192" name="Google Shape;40;p9"/>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aption" preserve="0" showMasterPhAnim="0" showMasterSp="1" userDrawn="1">
  <p:cSld name="CAPTION_ONLY">
    <p:spTree>
      <p:nvGrpSpPr>
        <p:cNvPr id="1" name=""/>
        <p:cNvGrpSpPr/>
        <p:nvPr/>
      </p:nvGrpSpPr>
      <p:grpSpPr bwMode="auto">
        <a:xfrm>
          <a:off x="0" y="0"/>
          <a:ext cx="0" cy="0"/>
          <a:chOff x="0" y="0"/>
          <a:chExt cx="0" cy="0"/>
        </a:xfrm>
      </p:grpSpPr>
      <p:sp>
        <p:nvSpPr>
          <p:cNvPr id="446423209" name="Google Shape;42;p10"/>
          <p:cNvSpPr txBox="1"/>
          <p:nvPr>
            <p:ph type="body" idx="1"/>
          </p:nvPr>
        </p:nvSpPr>
        <p:spPr bwMode="auto">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pPr>
              <a:defRPr/>
            </a:pPr>
            <a:endParaRPr/>
          </a:p>
        </p:txBody>
      </p:sp>
      <p:sp>
        <p:nvSpPr>
          <p:cNvPr id="1788999096" name="Google Shape;43;p10"/>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ig number" preserve="0" showMasterPhAnim="0" showMasterSp="1" userDrawn="1">
  <p:cSld name="BIG_NUMBER">
    <p:spTree>
      <p:nvGrpSpPr>
        <p:cNvPr id="1" name=""/>
        <p:cNvGrpSpPr/>
        <p:nvPr/>
      </p:nvGrpSpPr>
      <p:grpSpPr bwMode="auto">
        <a:xfrm>
          <a:off x="0" y="0"/>
          <a:ext cx="0" cy="0"/>
          <a:chOff x="0" y="0"/>
          <a:chExt cx="0" cy="0"/>
        </a:xfrm>
      </p:grpSpPr>
      <p:sp>
        <p:nvSpPr>
          <p:cNvPr id="1696907403" name="Google Shape;45;p11"/>
          <p:cNvSpPr txBox="1"/>
          <p:nvPr>
            <p:ph type="title" hasCustomPrompt="1"/>
          </p:nvPr>
        </p:nvSpPr>
        <p:spPr bwMode="auto">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pPr>
              <a:defRPr/>
            </a:pPr>
            <a:r>
              <a:rPr/>
              <a:t>xx%</a:t>
            </a:r>
            <a:endParaRPr/>
          </a:p>
        </p:txBody>
      </p:sp>
      <p:sp>
        <p:nvSpPr>
          <p:cNvPr id="999524103" name="Google Shape;46;p11"/>
          <p:cNvSpPr txBox="1"/>
          <p:nvPr>
            <p:ph type="body" idx="1"/>
          </p:nvPr>
        </p:nvSpPr>
        <p:spPr bwMode="auto">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pPr>
              <a:defRPr/>
            </a:pPr>
            <a:endParaRPr/>
          </a:p>
        </p:txBody>
      </p:sp>
      <p:sp>
        <p:nvSpPr>
          <p:cNvPr id="523988941" name="Google Shape;47;p11"/>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lank" preserve="0" showMasterPhAnim="0" showMasterSp="1" type="blank" userDrawn="1">
  <p:cSld name="BLANK">
    <p:spTree>
      <p:nvGrpSpPr>
        <p:cNvPr id="1" name=""/>
        <p:cNvGrpSpPr/>
        <p:nvPr/>
      </p:nvGrpSpPr>
      <p:grpSpPr bwMode="auto">
        <a:xfrm>
          <a:off x="0" y="0"/>
          <a:ext cx="0" cy="0"/>
          <a:chOff x="0" y="0"/>
          <a:chExt cx="0" cy="0"/>
        </a:xfrm>
      </p:grpSpPr>
      <p:sp>
        <p:nvSpPr>
          <p:cNvPr id="566562266" name="Google Shape;49;p12"/>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simple-light-2">
    <p:bg>
      <p:bgPr shadeToTitle="0">
        <a:solidFill>
          <a:schemeClr val="lt1"/>
        </a:solidFill>
      </p:bgPr>
    </p:bg>
    <p:spTree>
      <p:nvGrpSpPr>
        <p:cNvPr id="1" name=""/>
        <p:cNvGrpSpPr/>
        <p:nvPr/>
      </p:nvGrpSpPr>
      <p:grpSpPr bwMode="auto">
        <a:xfrm>
          <a:off x="0" y="0"/>
          <a:ext cx="0" cy="0"/>
          <a:chOff x="0" y="0"/>
          <a:chExt cx="0" cy="0"/>
        </a:xfrm>
      </p:grpSpPr>
      <p:sp>
        <p:nvSpPr>
          <p:cNvPr id="1228778748" name="Google Shape;6;p1"/>
          <p:cNvSpPr txBox="1"/>
          <p:nvPr>
            <p:ph type="title"/>
          </p:nvPr>
        </p:nvSpPr>
        <p:spPr bwMode="auto">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pPr>
              <a:defRPr/>
            </a:pPr>
            <a:endParaRPr/>
          </a:p>
        </p:txBody>
      </p:sp>
      <p:sp>
        <p:nvSpPr>
          <p:cNvPr id="691941848" name="Google Shape;7;p1"/>
          <p:cNvSpPr txBox="1"/>
          <p:nvPr>
            <p:ph type="body" idx="1"/>
          </p:nvPr>
        </p:nvSpPr>
        <p:spPr bwMode="auto">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4999"/>
              </a:lnSpc>
              <a:spcBef>
                <a:spcPts val="0"/>
              </a:spcBef>
              <a:spcAft>
                <a:spcPts val="0"/>
              </a:spcAft>
              <a:buClr>
                <a:schemeClr val="dk2"/>
              </a:buClr>
              <a:buSzPts val="1800"/>
              <a:buChar char="●"/>
              <a:defRPr sz="1800">
                <a:solidFill>
                  <a:schemeClr val="dk2"/>
                </a:solidFill>
              </a:defRPr>
            </a:lvl1pPr>
            <a:lvl2pPr marL="914400" lvl="1" indent="-317500">
              <a:lnSpc>
                <a:spcPct val="114999"/>
              </a:lnSpc>
              <a:spcBef>
                <a:spcPts val="0"/>
              </a:spcBef>
              <a:spcAft>
                <a:spcPts val="0"/>
              </a:spcAft>
              <a:buClr>
                <a:schemeClr val="dk2"/>
              </a:buClr>
              <a:buSzPts val="1400"/>
              <a:buChar char="○"/>
              <a:defRPr>
                <a:solidFill>
                  <a:schemeClr val="dk2"/>
                </a:solidFill>
              </a:defRPr>
            </a:lvl2pPr>
            <a:lvl3pPr marL="1371600" lvl="2" indent="-317500">
              <a:lnSpc>
                <a:spcPct val="114999"/>
              </a:lnSpc>
              <a:spcBef>
                <a:spcPts val="0"/>
              </a:spcBef>
              <a:spcAft>
                <a:spcPts val="0"/>
              </a:spcAft>
              <a:buClr>
                <a:schemeClr val="dk2"/>
              </a:buClr>
              <a:buSzPts val="1400"/>
              <a:buChar char="■"/>
              <a:defRPr>
                <a:solidFill>
                  <a:schemeClr val="dk2"/>
                </a:solidFill>
              </a:defRPr>
            </a:lvl3pPr>
            <a:lvl4pPr marL="1828800" lvl="3" indent="-317500">
              <a:lnSpc>
                <a:spcPct val="114999"/>
              </a:lnSpc>
              <a:spcBef>
                <a:spcPts val="0"/>
              </a:spcBef>
              <a:spcAft>
                <a:spcPts val="0"/>
              </a:spcAft>
              <a:buClr>
                <a:schemeClr val="dk2"/>
              </a:buClr>
              <a:buSzPts val="1400"/>
              <a:buChar char="●"/>
              <a:defRPr>
                <a:solidFill>
                  <a:schemeClr val="dk2"/>
                </a:solidFill>
              </a:defRPr>
            </a:lvl4pPr>
            <a:lvl5pPr marL="2286000" lvl="4" indent="-317500">
              <a:lnSpc>
                <a:spcPct val="114999"/>
              </a:lnSpc>
              <a:spcBef>
                <a:spcPts val="0"/>
              </a:spcBef>
              <a:spcAft>
                <a:spcPts val="0"/>
              </a:spcAft>
              <a:buClr>
                <a:schemeClr val="dk2"/>
              </a:buClr>
              <a:buSzPts val="1400"/>
              <a:buChar char="○"/>
              <a:defRPr>
                <a:solidFill>
                  <a:schemeClr val="dk2"/>
                </a:solidFill>
              </a:defRPr>
            </a:lvl5pPr>
            <a:lvl6pPr marL="2743200" lvl="5" indent="-317500">
              <a:lnSpc>
                <a:spcPct val="114999"/>
              </a:lnSpc>
              <a:spcBef>
                <a:spcPts val="0"/>
              </a:spcBef>
              <a:spcAft>
                <a:spcPts val="0"/>
              </a:spcAft>
              <a:buClr>
                <a:schemeClr val="dk2"/>
              </a:buClr>
              <a:buSzPts val="1400"/>
              <a:buChar char="■"/>
              <a:defRPr>
                <a:solidFill>
                  <a:schemeClr val="dk2"/>
                </a:solidFill>
              </a:defRPr>
            </a:lvl6pPr>
            <a:lvl7pPr marL="3200400" lvl="6" indent="-317500">
              <a:lnSpc>
                <a:spcPct val="114999"/>
              </a:lnSpc>
              <a:spcBef>
                <a:spcPts val="0"/>
              </a:spcBef>
              <a:spcAft>
                <a:spcPts val="0"/>
              </a:spcAft>
              <a:buClr>
                <a:schemeClr val="dk2"/>
              </a:buClr>
              <a:buSzPts val="1400"/>
              <a:buChar char="●"/>
              <a:defRPr>
                <a:solidFill>
                  <a:schemeClr val="dk2"/>
                </a:solidFill>
              </a:defRPr>
            </a:lvl7pPr>
            <a:lvl8pPr marL="3657600" lvl="7" indent="-317500">
              <a:lnSpc>
                <a:spcPct val="114999"/>
              </a:lnSpc>
              <a:spcBef>
                <a:spcPts val="0"/>
              </a:spcBef>
              <a:spcAft>
                <a:spcPts val="0"/>
              </a:spcAft>
              <a:buClr>
                <a:schemeClr val="dk2"/>
              </a:buClr>
              <a:buSzPts val="1400"/>
              <a:buChar char="○"/>
              <a:defRPr>
                <a:solidFill>
                  <a:schemeClr val="dk2"/>
                </a:solidFill>
              </a:defRPr>
            </a:lvl8pPr>
            <a:lvl9pPr marL="4114800" lvl="8" indent="-317500">
              <a:lnSpc>
                <a:spcPct val="114999"/>
              </a:lnSpc>
              <a:spcBef>
                <a:spcPts val="0"/>
              </a:spcBef>
              <a:spcAft>
                <a:spcPts val="0"/>
              </a:spcAft>
              <a:buClr>
                <a:schemeClr val="dk2"/>
              </a:buClr>
              <a:buSzPts val="1400"/>
              <a:buChar char="■"/>
              <a:defRPr>
                <a:solidFill>
                  <a:schemeClr val="dk2"/>
                </a:solidFill>
              </a:defRPr>
            </a:lvl9pPr>
          </a:lstStyle>
          <a:p>
            <a:pPr>
              <a:defRPr/>
            </a:pPr>
            <a:endParaRPr/>
          </a:p>
        </p:txBody>
      </p:sp>
      <p:sp>
        <p:nvSpPr>
          <p:cNvPr id="1643531784" name="Google Shape;8;p1"/>
          <p:cNvSpPr txBox="1"/>
          <p:nvPr>
            <p:ph type="sldNum" idx="12"/>
          </p:nvPr>
        </p:nvSpPr>
        <p:spPr bwMode="auto">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defRPr/>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github.com/julienschmidt/httprouter"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32457960" name="Google Shape;54;p13"/>
          <p:cNvSpPr txBox="1"/>
          <p:nvPr>
            <p:ph type="ctrTitle"/>
          </p:nvPr>
        </p:nvSpPr>
        <p:spPr bwMode="auto">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defRPr/>
            </a:pPr>
            <a:r>
              <a:rPr lang="en"/>
              <a:t>Asynchronous Job + Worker + HTTP 202</a:t>
            </a:r>
            <a:endParaRPr/>
          </a:p>
        </p:txBody>
      </p:sp>
      <p:sp>
        <p:nvSpPr>
          <p:cNvPr id="1197549991" name="Google Shape;55;p13"/>
          <p:cNvSpPr txBox="1"/>
          <p:nvPr>
            <p:ph type="subTitle" idx="1"/>
          </p:nvPr>
        </p:nvSpPr>
        <p:spPr bwMode="auto">
          <a:xfrm>
            <a:off x="311700" y="2834125"/>
            <a:ext cx="8520600" cy="15540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defRPr/>
            </a:pPr>
            <a:r>
              <a:rPr lang="en"/>
              <a:t>CMPS4191 Advanced Web Technologies Quiz 2</a:t>
            </a:r>
            <a:endParaRPr/>
          </a:p>
          <a:p>
            <a:pPr marL="0" lvl="0" indent="0" algn="ctr" rtl="0">
              <a:spcBef>
                <a:spcPts val="0"/>
              </a:spcBef>
              <a:spcAft>
                <a:spcPts val="0"/>
              </a:spcAft>
              <a:buNone/>
              <a:defRPr/>
            </a:pPr>
            <a:r>
              <a:rPr lang="en"/>
              <a:t>Andres Hung (2018118240)</a:t>
            </a:r>
            <a:endParaRPr/>
          </a:p>
          <a:p>
            <a:pPr marL="0" lvl="0" indent="0" algn="ctr" rtl="0">
              <a:spcBef>
                <a:spcPts val="0"/>
              </a:spcBef>
              <a:spcAft>
                <a:spcPts val="0"/>
              </a:spcAft>
              <a:buNone/>
              <a:defRPr/>
            </a:pPr>
            <a:r>
              <a:rPr lang="en"/>
              <a:t>August 30, 2026</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2429827" name="Google Shape;60;p14"/>
          <p:cNvSpPr txBox="1"/>
          <p:nvPr>
            <p:ph type="title"/>
          </p:nvPr>
        </p:nvSpPr>
        <p:spPr bwMode="auto">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defRPr/>
            </a:pPr>
            <a:r>
              <a:rPr lang="en"/>
              <a:t>A) The Problem &amp; Requirement</a:t>
            </a:r>
            <a:endParaRPr/>
          </a:p>
        </p:txBody>
      </p:sp>
      <p:sp>
        <p:nvSpPr>
          <p:cNvPr id="14407768" name="Google Shape;61;p14"/>
          <p:cNvSpPr txBox="1"/>
          <p:nvPr>
            <p:ph type="body" idx="1"/>
          </p:nvPr>
        </p:nvSpPr>
        <p:spPr bwMode="auto">
          <a:xfrm>
            <a:off x="311700" y="1152475"/>
            <a:ext cx="3853200" cy="2098200"/>
          </a:xfrm>
          <a:prstGeom prst="rect">
            <a:avLst/>
          </a:prstGeom>
        </p:spPr>
        <p:txBody>
          <a:bodyPr spcFirstLastPara="1" wrap="square" lIns="91425" tIns="91425" rIns="91425" bIns="91425" anchor="t" anchorCtr="0">
            <a:normAutofit fontScale="85000"/>
          </a:bodyPr>
          <a:lstStyle/>
          <a:p>
            <a:pPr marL="457200" lvl="0" indent="-325755" algn="l" rtl="0">
              <a:spcBef>
                <a:spcPts val="0"/>
              </a:spcBef>
              <a:spcAft>
                <a:spcPts val="0"/>
              </a:spcAft>
              <a:buSzPct val="100000"/>
              <a:buChar char="●"/>
              <a:defRPr/>
            </a:pPr>
            <a:r>
              <a:rPr lang="en"/>
              <a:t>In Laboratory 1, synchronous report generation time was shown to increase as report generation delay increased. When it was too long, a timeout occurred.</a:t>
            </a:r>
            <a:endParaRPr/>
          </a:p>
          <a:p>
            <a:pPr marL="457200" lvl="0" indent="-325755" algn="l" rtl="0">
              <a:spcBef>
                <a:spcPts val="0"/>
              </a:spcBef>
              <a:spcAft>
                <a:spcPts val="0"/>
              </a:spcAft>
              <a:buSzPct val="100000"/>
              <a:buChar char="●"/>
              <a:defRPr/>
            </a:pPr>
            <a:r>
              <a:rPr lang="en"/>
              <a:t>The client should NOT be waiting so long, unable to do anything else…</a:t>
            </a:r>
            <a:endParaRPr/>
          </a:p>
        </p:txBody>
      </p:sp>
      <p:pic>
        <p:nvPicPr>
          <p:cNvPr id="987069186" name="Google Shape;62;p14"/>
          <p:cNvPicPr/>
          <p:nvPr/>
        </p:nvPicPr>
        <p:blipFill rotWithShape="1">
          <a:blip r:embed="rId3">
            <a:alphaModFix/>
          </a:blip>
          <a:stretch/>
        </p:blipFill>
        <p:spPr bwMode="auto">
          <a:xfrm>
            <a:off x="4262875" y="1254725"/>
            <a:ext cx="4569524" cy="1271175"/>
          </a:xfrm>
          <a:prstGeom prst="rect">
            <a:avLst/>
          </a:prstGeom>
          <a:noFill/>
          <a:ln>
            <a:noFill/>
          </a:ln>
        </p:spPr>
      </p:pic>
      <p:sp>
        <p:nvSpPr>
          <p:cNvPr id="649128794" name="Google Shape;63;p14"/>
          <p:cNvSpPr/>
          <p:nvPr/>
        </p:nvSpPr>
        <p:spPr bwMode="auto">
          <a:xfrm>
            <a:off x="7298200" y="2263400"/>
            <a:ext cx="1534200" cy="2625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2028605907" name="Google Shape;64;p14"/>
          <p:cNvSpPr txBox="1"/>
          <p:nvPr/>
        </p:nvSpPr>
        <p:spPr bwMode="auto">
          <a:xfrm>
            <a:off x="7010075" y="2525900"/>
            <a:ext cx="2010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a:solidFill>
                  <a:srgbClr val="FF0000"/>
                </a:solidFill>
              </a:rPr>
              <a:t>Failure with 12s delay</a:t>
            </a:r>
            <a:endParaRPr>
              <a:solidFill>
                <a:srgbClr val="FF0000"/>
              </a:solidFill>
            </a:endParaRPr>
          </a:p>
        </p:txBody>
      </p:sp>
      <p:sp>
        <p:nvSpPr>
          <p:cNvPr id="643848555" name="Google Shape;65;p14"/>
          <p:cNvSpPr txBox="1"/>
          <p:nvPr>
            <p:ph type="body" idx="1"/>
          </p:nvPr>
        </p:nvSpPr>
        <p:spPr bwMode="auto">
          <a:xfrm>
            <a:off x="1644475" y="3250675"/>
            <a:ext cx="6183000" cy="1595099"/>
          </a:xfrm>
          <a:prstGeom prst="rect">
            <a:avLst/>
          </a:prstGeom>
        </p:spPr>
        <p:txBody>
          <a:bodyPr spcFirstLastPara="1" wrap="square" lIns="91425" tIns="91425" rIns="91425" bIns="91425" anchor="t" anchorCtr="0">
            <a:normAutofit lnSpcReduction="20000"/>
          </a:bodyPr>
          <a:lstStyle/>
          <a:p>
            <a:pPr marL="0" lvl="0" indent="0" algn="ctr" rtl="0">
              <a:spcBef>
                <a:spcPts val="0"/>
              </a:spcBef>
              <a:spcAft>
                <a:spcPts val="1200"/>
              </a:spcAft>
              <a:buNone/>
              <a:defRPr/>
            </a:pPr>
            <a:r>
              <a:rPr lang="en" b="1">
                <a:solidFill>
                  <a:srgbClr val="FF0000"/>
                </a:solidFill>
              </a:rPr>
              <a:t>New Requirements</a:t>
            </a:r>
            <a:br>
              <a:rPr lang="en"/>
            </a:br>
            <a:r>
              <a:rPr lang="en" b="1"/>
              <a:t>- </a:t>
            </a:r>
            <a:r>
              <a:rPr lang="en" b="1"/>
              <a:t>Acknowledge without waiting for report completion.</a:t>
            </a:r>
            <a:br>
              <a:rPr lang="en" b="1"/>
            </a:br>
            <a:r>
              <a:rPr lang="en" b="1"/>
              <a:t>- Allow work to continue after POST ends.</a:t>
            </a:r>
            <a:br>
              <a:rPr lang="en" b="1"/>
            </a:br>
            <a:r>
              <a:rPr lang="en" b="1"/>
              <a:t>- Expose current job state.</a:t>
            </a:r>
            <a:br>
              <a:rPr lang="en" b="1"/>
            </a:br>
            <a:r>
              <a:rPr lang="en" b="1"/>
              <a:t>- Exposes completed result or failure.</a:t>
            </a:r>
            <a:endParaRPr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39485717" name="Google Shape;70;p15"/>
          <p:cNvSpPr txBox="1"/>
          <p:nvPr>
            <p:ph type="title"/>
          </p:nvPr>
        </p:nvSpPr>
        <p:spPr bwMode="auto">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defRPr/>
            </a:pPr>
            <a:r>
              <a:rPr lang="en"/>
              <a:t>B) The HTTP Contract</a:t>
            </a:r>
            <a:endParaRPr/>
          </a:p>
        </p:txBody>
      </p:sp>
      <p:sp>
        <p:nvSpPr>
          <p:cNvPr id="1444790" name="Google Shape;71;p15"/>
          <p:cNvSpPr txBox="1"/>
          <p:nvPr>
            <p:ph type="body" idx="1"/>
          </p:nvPr>
        </p:nvSpPr>
        <p:spPr bwMode="auto">
          <a:xfrm>
            <a:off x="311700" y="1152475"/>
            <a:ext cx="8520600" cy="22125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AutoNum type="arabicPeriod"/>
              <a:defRPr/>
            </a:pPr>
            <a:r>
              <a:rPr lang="en"/>
              <a:t>The clients sends the initial HTTP POST request to the server for report generation.</a:t>
            </a:r>
            <a:endParaRPr/>
          </a:p>
          <a:p>
            <a:pPr marL="457200" lvl="0" indent="-342900" algn="l" rtl="0">
              <a:spcBef>
                <a:spcPts val="0"/>
              </a:spcBef>
              <a:spcAft>
                <a:spcPts val="0"/>
              </a:spcAft>
              <a:buSzPts val="1800"/>
              <a:buAutoNum type="arabicPeriod"/>
              <a:defRPr/>
            </a:pPr>
            <a:r>
              <a:rPr lang="en"/>
              <a:t>Instead of having the POST handler process the report generation, create a job and delegate processing to a background worker. </a:t>
            </a:r>
            <a:endParaRPr/>
          </a:p>
          <a:p>
            <a:pPr marL="457200" lvl="0" indent="-342900" algn="l" rtl="0">
              <a:spcBef>
                <a:spcPts val="0"/>
              </a:spcBef>
              <a:spcAft>
                <a:spcPts val="0"/>
              </a:spcAft>
              <a:buSzPts val="1800"/>
              <a:buAutoNum type="arabicPeriod"/>
              <a:defRPr/>
            </a:pPr>
            <a:r>
              <a:rPr lang="en"/>
              <a:t>A response with a HTTP status code of 202 Accepted, containing the job identifier and job status endpoint, can be returned to the client.</a:t>
            </a:r>
            <a:endParaRPr/>
          </a:p>
        </p:txBody>
      </p:sp>
      <p:sp>
        <p:nvSpPr>
          <p:cNvPr id="211861789" name="Google Shape;72;p15"/>
          <p:cNvSpPr txBox="1"/>
          <p:nvPr>
            <p:ph type="body" idx="1"/>
          </p:nvPr>
        </p:nvSpPr>
        <p:spPr bwMode="auto">
          <a:xfrm>
            <a:off x="311700" y="3207700"/>
            <a:ext cx="8520600" cy="15738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rgbClr val="FF0000"/>
              </a:buClr>
              <a:buSzPts val="1800"/>
              <a:buChar char="●"/>
              <a:defRPr/>
            </a:pPr>
            <a:r>
              <a:rPr lang="en" b="1">
                <a:solidFill>
                  <a:srgbClr val="FF0000"/>
                </a:solidFill>
              </a:rPr>
              <a:t>202 Accepted does NOT guarantee the job (report generation) will be successful. It may fail.</a:t>
            </a:r>
            <a:endParaRPr b="1">
              <a:solidFill>
                <a:srgbClr val="FF0000"/>
              </a:solidFill>
            </a:endParaRPr>
          </a:p>
          <a:p>
            <a:pPr marL="457200" lvl="0" indent="-342900" algn="l" rtl="0">
              <a:spcBef>
                <a:spcPts val="0"/>
              </a:spcBef>
              <a:spcAft>
                <a:spcPts val="0"/>
              </a:spcAft>
              <a:buClr>
                <a:srgbClr val="FF0000"/>
              </a:buClr>
              <a:buSzPts val="1800"/>
              <a:buChar char="●"/>
              <a:defRPr/>
            </a:pPr>
            <a:r>
              <a:rPr lang="en" b="1">
                <a:solidFill>
                  <a:srgbClr val="FF0000"/>
                </a:solidFill>
              </a:rPr>
              <a:t>The client needs a job identifier and a job status endpoint so it knows how to query the status of the job it submitted.</a:t>
            </a:r>
            <a:endParaRPr b="1">
              <a:solidFill>
                <a:srgbClr val="FF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76857674" name="Google Shape;77;p16" title="diagrams-architecture.png"/>
          <p:cNvPicPr/>
          <p:nvPr/>
        </p:nvPicPr>
        <p:blipFill rotWithShape="1">
          <a:blip r:embed="rId3">
            <a:alphaModFix/>
          </a:blip>
          <a:srcRect l="0" t="0" r="0" b="0"/>
          <a:stretch/>
        </p:blipFill>
        <p:spPr bwMode="auto">
          <a:xfrm>
            <a:off x="859975" y="1120050"/>
            <a:ext cx="7424051" cy="3944024"/>
          </a:xfrm>
          <a:prstGeom prst="rect">
            <a:avLst/>
          </a:prstGeom>
          <a:noFill/>
          <a:ln w="9525" cap="flat" cmpd="sng">
            <a:solidFill>
              <a:srgbClr val="000000"/>
            </a:solidFill>
            <a:prstDash val="solid"/>
            <a:round/>
            <a:headEnd type="none" w="sm" len="sm"/>
            <a:tailEnd type="none" w="sm" len="sm"/>
          </a:ln>
        </p:spPr>
      </p:pic>
      <p:sp>
        <p:nvSpPr>
          <p:cNvPr id="648862064" name="Google Shape;78;p16"/>
          <p:cNvSpPr txBox="1"/>
          <p:nvPr/>
        </p:nvSpPr>
        <p:spPr bwMode="auto">
          <a:xfrm>
            <a:off x="6881325" y="3398625"/>
            <a:ext cx="1554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endParaRPr>
              <a:solidFill>
                <a:srgbClr val="FF0000"/>
              </a:solidFill>
            </a:endParaRPr>
          </a:p>
        </p:txBody>
      </p:sp>
      <p:sp>
        <p:nvSpPr>
          <p:cNvPr id="561628022" name="Google Shape;79;p16"/>
          <p:cNvSpPr txBox="1"/>
          <p:nvPr/>
        </p:nvSpPr>
        <p:spPr bwMode="auto">
          <a:xfrm>
            <a:off x="482200" y="2422463"/>
            <a:ext cx="3332100" cy="15315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457200" lvl="0" indent="-307975" algn="l" rtl="0">
              <a:spcBef>
                <a:spcPts val="0"/>
              </a:spcBef>
              <a:spcAft>
                <a:spcPts val="0"/>
              </a:spcAft>
              <a:buClr>
                <a:srgbClr val="FF0000"/>
              </a:buClr>
              <a:buSzPts val="1250"/>
              <a:buChar char="●"/>
              <a:defRPr/>
            </a:pPr>
            <a:r>
              <a:rPr lang="en" sz="1250">
                <a:solidFill>
                  <a:srgbClr val="FF0000"/>
                </a:solidFill>
              </a:rPr>
              <a:t>Numbered arrows prefixed with A and B show synchronous sequences of the client’s initial POST request and the client’s polling GET request, respectively.</a:t>
            </a:r>
            <a:endParaRPr sz="1250">
              <a:solidFill>
                <a:srgbClr val="FF0000"/>
              </a:solidFill>
            </a:endParaRPr>
          </a:p>
          <a:p>
            <a:pPr marL="457200" lvl="0" indent="-307975" algn="l" rtl="0">
              <a:spcBef>
                <a:spcPts val="0"/>
              </a:spcBef>
              <a:spcAft>
                <a:spcPts val="0"/>
              </a:spcAft>
              <a:buClr>
                <a:srgbClr val="FF0000"/>
              </a:buClr>
              <a:buSzPts val="1250"/>
              <a:buChar char="●"/>
              <a:defRPr/>
            </a:pPr>
            <a:r>
              <a:rPr lang="en" sz="1250">
                <a:solidFill>
                  <a:srgbClr val="FF0000"/>
                </a:solidFill>
              </a:rPr>
              <a:t>The client periodically polls the job status.</a:t>
            </a:r>
            <a:endParaRPr sz="1250">
              <a:solidFill>
                <a:srgbClr val="FF0000"/>
              </a:solidFill>
            </a:endParaRPr>
          </a:p>
        </p:txBody>
      </p:sp>
      <p:sp>
        <p:nvSpPr>
          <p:cNvPr id="161723190" name="Google Shape;80;p16"/>
          <p:cNvSpPr txBox="1"/>
          <p:nvPr>
            <p:ph type="title"/>
          </p:nvPr>
        </p:nvSpPr>
        <p:spPr bwMode="auto">
          <a:xfrm>
            <a:off x="6056100" y="1220225"/>
            <a:ext cx="2830199" cy="1561500"/>
          </a:xfrm>
          <a:prstGeom prst="rect">
            <a:avLst/>
          </a:prstGeom>
          <a:solidFill>
            <a:schemeClr val="lt1"/>
          </a:solid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fontScale="90000"/>
          </a:bodyPr>
          <a:lstStyle/>
          <a:p>
            <a:pPr marL="457200" lvl="0" indent="-308610" algn="l" rtl="0">
              <a:spcBef>
                <a:spcPts val="0"/>
              </a:spcBef>
              <a:spcAft>
                <a:spcPts val="0"/>
              </a:spcAft>
              <a:buClr>
                <a:srgbClr val="FF0000"/>
              </a:buClr>
              <a:buSzPct val="100000"/>
              <a:buChar char="●"/>
              <a:defRPr/>
            </a:pPr>
            <a:r>
              <a:rPr lang="en" sz="1400">
                <a:solidFill>
                  <a:srgbClr val="FF0000"/>
                </a:solidFill>
              </a:rPr>
              <a:t>The background worker periodically polls for queued jobs to process.</a:t>
            </a:r>
            <a:endParaRPr sz="1400">
              <a:solidFill>
                <a:srgbClr val="FF0000"/>
              </a:solidFill>
            </a:endParaRPr>
          </a:p>
          <a:p>
            <a:pPr marL="457200" lvl="0" indent="-308610" algn="l" rtl="0">
              <a:spcBef>
                <a:spcPts val="0"/>
              </a:spcBef>
              <a:spcAft>
                <a:spcPts val="0"/>
              </a:spcAft>
              <a:buClr>
                <a:srgbClr val="FF0000"/>
              </a:buClr>
              <a:buSzPct val="100000"/>
              <a:buChar char="●"/>
              <a:defRPr/>
            </a:pPr>
            <a:r>
              <a:rPr lang="en" sz="1400">
                <a:solidFill>
                  <a:srgbClr val="FF0000"/>
                </a:solidFill>
              </a:rPr>
              <a:t>The background worker is a separate process or thread from the server e.g., goroutine, Python program.</a:t>
            </a:r>
            <a:endParaRPr/>
          </a:p>
        </p:txBody>
      </p:sp>
      <p:sp>
        <p:nvSpPr>
          <p:cNvPr id="874463312" name="Google Shape;81;p16"/>
          <p:cNvSpPr txBox="1"/>
          <p:nvPr>
            <p:ph type="title"/>
          </p:nvPr>
        </p:nvSpPr>
        <p:spPr bwMode="auto">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defRPr/>
            </a:pPr>
            <a:r>
              <a:rPr lang="en"/>
              <a:t>C) Architecture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29927827" name="Google Shape;86;p17"/>
          <p:cNvSpPr txBox="1"/>
          <p:nvPr>
            <p:ph type="title"/>
          </p:nvPr>
        </p:nvSpPr>
        <p:spPr bwMode="auto">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defRPr/>
            </a:pPr>
            <a:r>
              <a:rPr lang="en"/>
              <a:t>D) Job Lifecycle</a:t>
            </a:r>
            <a:endParaRPr/>
          </a:p>
        </p:txBody>
      </p:sp>
      <p:pic>
        <p:nvPicPr>
          <p:cNvPr id="829232250" name="Google Shape;87;p17"/>
          <p:cNvPicPr/>
          <p:nvPr/>
        </p:nvPicPr>
        <p:blipFill rotWithShape="1">
          <a:blip r:embed="rId3">
            <a:alphaModFix/>
          </a:blip>
          <a:stretch/>
        </p:blipFill>
        <p:spPr bwMode="auto">
          <a:xfrm>
            <a:off x="1555512" y="1017724"/>
            <a:ext cx="6032973" cy="3714651"/>
          </a:xfrm>
          <a:prstGeom prst="rect">
            <a:avLst/>
          </a:prstGeom>
          <a:noFill/>
          <a:ln w="9525" cap="flat" cmpd="sng">
            <a:solidFill>
              <a:srgbClr val="000000"/>
            </a:solidFill>
            <a:prstDash val="solid"/>
            <a:round/>
            <a:headEnd type="none" w="sm" len="sm"/>
            <a:tailEnd type="none" w="sm" len="sm"/>
          </a:ln>
        </p:spPr>
      </p:pic>
      <p:sp>
        <p:nvSpPr>
          <p:cNvPr id="593931538" name="Google Shape;88;p17"/>
          <p:cNvSpPr txBox="1"/>
          <p:nvPr/>
        </p:nvSpPr>
        <p:spPr bwMode="auto">
          <a:xfrm>
            <a:off x="5396775" y="1313650"/>
            <a:ext cx="2766900" cy="507899"/>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defRPr/>
            </a:pPr>
            <a:r>
              <a:rPr lang="en" sz="1050">
                <a:solidFill>
                  <a:srgbClr val="FF0000"/>
                </a:solidFill>
              </a:rPr>
              <a:t>createReportHandler </a:t>
            </a:r>
            <a:r>
              <a:rPr lang="en" sz="1050">
                <a:solidFill>
                  <a:srgbClr val="9900FF"/>
                </a:solidFill>
              </a:rPr>
              <a:t>(h_reports.go)</a:t>
            </a:r>
            <a:endParaRPr sz="1050">
              <a:solidFill>
                <a:srgbClr val="9900FF"/>
              </a:solidFill>
            </a:endParaRPr>
          </a:p>
          <a:p>
            <a:pPr marL="0" lvl="0" indent="0" algn="ctr" rtl="0">
              <a:spcBef>
                <a:spcPts val="0"/>
              </a:spcBef>
              <a:spcAft>
                <a:spcPts val="0"/>
              </a:spcAft>
              <a:buNone/>
              <a:defRPr/>
            </a:pPr>
            <a:r>
              <a:rPr lang="en" sz="1050">
                <a:solidFill>
                  <a:srgbClr val="FF0000"/>
                </a:solidFill>
              </a:rPr>
              <a:t>JobModel.Insert </a:t>
            </a:r>
            <a:r>
              <a:rPr lang="en" sz="1050">
                <a:solidFill>
                  <a:srgbClr val="9900FF"/>
                </a:solidFill>
              </a:rPr>
              <a:t>(m_jobs.go)</a:t>
            </a:r>
            <a:endParaRPr sz="1050">
              <a:solidFill>
                <a:srgbClr val="9900FF"/>
              </a:solidFill>
            </a:endParaRPr>
          </a:p>
        </p:txBody>
      </p:sp>
      <p:sp>
        <p:nvSpPr>
          <p:cNvPr id="1769182798" name="Google Shape;89;p17"/>
          <p:cNvSpPr txBox="1"/>
          <p:nvPr/>
        </p:nvSpPr>
        <p:spPr bwMode="auto">
          <a:xfrm>
            <a:off x="5427575" y="2500225"/>
            <a:ext cx="2766900" cy="669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defRPr/>
            </a:pPr>
            <a:r>
              <a:rPr lang="en" sz="1050">
                <a:solidFill>
                  <a:srgbClr val="FF0000"/>
                </a:solidFill>
              </a:rPr>
              <a:t>startReportWorker </a:t>
            </a:r>
            <a:r>
              <a:rPr lang="en" sz="1050">
                <a:solidFill>
                  <a:srgbClr val="9900FF"/>
                </a:solidFill>
              </a:rPr>
              <a:t>(worker.go)</a:t>
            </a:r>
            <a:endParaRPr sz="1050">
              <a:solidFill>
                <a:srgbClr val="9900FF"/>
              </a:solidFill>
            </a:endParaRPr>
          </a:p>
          <a:p>
            <a:pPr marL="0" lvl="0" indent="0" algn="ctr" rtl="0">
              <a:spcBef>
                <a:spcPts val="0"/>
              </a:spcBef>
              <a:spcAft>
                <a:spcPts val="0"/>
              </a:spcAft>
              <a:buNone/>
              <a:defRPr/>
            </a:pPr>
            <a:r>
              <a:rPr lang="en" sz="1050">
                <a:solidFill>
                  <a:srgbClr val="FF0000"/>
                </a:solidFill>
              </a:rPr>
              <a:t>processNextJobReport</a:t>
            </a:r>
            <a:r>
              <a:rPr lang="en" sz="1050">
                <a:solidFill>
                  <a:srgbClr val="FF0000"/>
                </a:solidFill>
              </a:rPr>
              <a:t> </a:t>
            </a:r>
            <a:r>
              <a:rPr lang="en" sz="1050">
                <a:solidFill>
                  <a:srgbClr val="9900FF"/>
                </a:solidFill>
              </a:rPr>
              <a:t>(worker.go)</a:t>
            </a:r>
            <a:endParaRPr sz="1050">
              <a:solidFill>
                <a:srgbClr val="9900FF"/>
              </a:solidFill>
            </a:endParaRPr>
          </a:p>
          <a:p>
            <a:pPr marL="0" lvl="0" indent="0" algn="ctr" rtl="0">
              <a:spcBef>
                <a:spcPts val="0"/>
              </a:spcBef>
              <a:spcAft>
                <a:spcPts val="0"/>
              </a:spcAft>
              <a:buNone/>
              <a:defRPr/>
            </a:pPr>
            <a:r>
              <a:rPr lang="en" sz="1050">
                <a:solidFill>
                  <a:srgbClr val="FF0000"/>
                </a:solidFill>
              </a:rPr>
              <a:t>JobModel.ClaimNext </a:t>
            </a:r>
            <a:r>
              <a:rPr lang="en" sz="1050">
                <a:solidFill>
                  <a:srgbClr val="9900FF"/>
                </a:solidFill>
              </a:rPr>
              <a:t>(m_jobs.go)</a:t>
            </a:r>
            <a:endParaRPr sz="1050">
              <a:solidFill>
                <a:srgbClr val="9900FF"/>
              </a:solidFill>
            </a:endParaRPr>
          </a:p>
        </p:txBody>
      </p:sp>
      <p:sp>
        <p:nvSpPr>
          <p:cNvPr id="2122201573" name="Google Shape;90;p17"/>
          <p:cNvSpPr txBox="1"/>
          <p:nvPr/>
        </p:nvSpPr>
        <p:spPr bwMode="auto">
          <a:xfrm>
            <a:off x="1513250" y="4516875"/>
            <a:ext cx="1791900" cy="507899"/>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defRPr/>
            </a:pPr>
            <a:r>
              <a:rPr lang="en" sz="1050">
                <a:solidFill>
                  <a:srgbClr val="FF0000"/>
                </a:solidFill>
              </a:rPr>
              <a:t>JobModel.MarkCompleted </a:t>
            </a:r>
            <a:r>
              <a:rPr lang="en" sz="1050">
                <a:solidFill>
                  <a:srgbClr val="9900FF"/>
                </a:solidFill>
              </a:rPr>
              <a:t>(m_jobs.go)</a:t>
            </a:r>
            <a:endParaRPr sz="1050">
              <a:solidFill>
                <a:srgbClr val="9900FF"/>
              </a:solidFill>
            </a:endParaRPr>
          </a:p>
        </p:txBody>
      </p:sp>
      <p:sp>
        <p:nvSpPr>
          <p:cNvPr id="572354587" name="Google Shape;91;p17"/>
          <p:cNvSpPr txBox="1"/>
          <p:nvPr/>
        </p:nvSpPr>
        <p:spPr bwMode="auto">
          <a:xfrm>
            <a:off x="3705148" y="4516875"/>
            <a:ext cx="1733700" cy="507899"/>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defRPr/>
            </a:pPr>
            <a:r>
              <a:rPr lang="en" sz="1050">
                <a:solidFill>
                  <a:srgbClr val="FF0000"/>
                </a:solidFill>
              </a:rPr>
              <a:t>JobModel.MarkFailed </a:t>
            </a:r>
            <a:r>
              <a:rPr lang="en" sz="1050">
                <a:solidFill>
                  <a:srgbClr val="9900FF"/>
                </a:solidFill>
              </a:rPr>
              <a:t>(m_jobs.go)</a:t>
            </a:r>
            <a:endParaRPr sz="1050">
              <a:solidFill>
                <a:srgbClr val="9900FF"/>
              </a:solidFill>
            </a:endParaRPr>
          </a:p>
        </p:txBody>
      </p:sp>
      <p:sp>
        <p:nvSpPr>
          <p:cNvPr id="2123825260" name="Google Shape;92;p17"/>
          <p:cNvSpPr txBox="1"/>
          <p:nvPr/>
        </p:nvSpPr>
        <p:spPr bwMode="auto">
          <a:xfrm>
            <a:off x="5838849" y="4597725"/>
            <a:ext cx="1623900" cy="3462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defRPr/>
            </a:pPr>
            <a:r>
              <a:rPr lang="en" sz="1050">
                <a:solidFill>
                  <a:srgbClr val="FF0000"/>
                </a:solidFill>
              </a:rPr>
              <a:t>N/A</a:t>
            </a:r>
            <a:endParaRPr sz="1050">
              <a:solidFill>
                <a:srgbClr val="FF0000"/>
              </a:solidFill>
            </a:endParaRPr>
          </a:p>
        </p:txBody>
      </p:sp>
      <p:sp>
        <p:nvSpPr>
          <p:cNvPr id="2035898642" name="Google Shape;93;p17"/>
          <p:cNvSpPr txBox="1"/>
          <p:nvPr/>
        </p:nvSpPr>
        <p:spPr bwMode="auto">
          <a:xfrm>
            <a:off x="311700" y="1253425"/>
            <a:ext cx="2544000" cy="19164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457200" lvl="0" indent="-307975" algn="l" rtl="0">
              <a:spcBef>
                <a:spcPts val="0"/>
              </a:spcBef>
              <a:spcAft>
                <a:spcPts val="0"/>
              </a:spcAft>
              <a:buClr>
                <a:schemeClr val="dk2"/>
              </a:buClr>
              <a:buSzPts val="1250"/>
              <a:buChar char="●"/>
              <a:defRPr/>
            </a:pPr>
            <a:r>
              <a:rPr lang="en" sz="1250">
                <a:solidFill>
                  <a:schemeClr val="dk2"/>
                </a:solidFill>
              </a:rPr>
              <a:t>Functions responsible for each job status is listed. Multiple functions may participate, and are listed from highest to lowest abstraction.</a:t>
            </a:r>
            <a:endParaRPr sz="1250">
              <a:solidFill>
                <a:schemeClr val="dk2"/>
              </a:solidFill>
            </a:endParaRPr>
          </a:p>
          <a:p>
            <a:pPr marL="457200" lvl="0" indent="-307975" algn="l" rtl="0">
              <a:spcBef>
                <a:spcPts val="0"/>
              </a:spcBef>
              <a:spcAft>
                <a:spcPts val="0"/>
              </a:spcAft>
              <a:buClr>
                <a:schemeClr val="dk2"/>
              </a:buClr>
              <a:buSzPts val="1250"/>
              <a:buChar char="●"/>
              <a:defRPr/>
            </a:pPr>
            <a:r>
              <a:rPr lang="en" sz="1250">
                <a:solidFill>
                  <a:schemeClr val="dk2"/>
                </a:solidFill>
              </a:rPr>
              <a:t>The cancelled status currently does not have an associated function.</a:t>
            </a:r>
            <a:endParaRPr sz="1250">
              <a:solidFill>
                <a:schemeClr val="dk2"/>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62554410" name="Google Shape;98;p18"/>
          <p:cNvSpPr txBox="1"/>
          <p:nvPr>
            <p:ph type="title"/>
          </p:nvPr>
        </p:nvSpPr>
        <p:spPr bwMode="auto">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defRPr/>
            </a:pPr>
            <a:r>
              <a:rPr lang="en"/>
              <a:t>E</a:t>
            </a:r>
            <a:r>
              <a:rPr lang="en"/>
              <a:t>-1</a:t>
            </a:r>
            <a:r>
              <a:rPr lang="en"/>
              <a:t>) Job Creation</a:t>
            </a:r>
            <a:endParaRPr/>
          </a:p>
        </p:txBody>
      </p:sp>
      <p:sp>
        <p:nvSpPr>
          <p:cNvPr id="2064443541" name="Google Shape;99;p18"/>
          <p:cNvSpPr txBox="1"/>
          <p:nvPr>
            <p:ph type="body" idx="1"/>
          </p:nvPr>
        </p:nvSpPr>
        <p:spPr bwMode="auto">
          <a:xfrm>
            <a:off x="311700" y="1152475"/>
            <a:ext cx="2644200" cy="3471600"/>
          </a:xfrm>
          <a:prstGeom prst="rect">
            <a:avLst/>
          </a:prstGeom>
        </p:spPr>
        <p:txBody>
          <a:bodyPr spcFirstLastPara="1" wrap="square" lIns="91425" tIns="91425" rIns="91425" bIns="91425" anchor="t" anchorCtr="0">
            <a:normAutofit lnSpcReduction="10000"/>
          </a:bodyPr>
          <a:lstStyle/>
          <a:p>
            <a:pPr marL="457200" lvl="0" indent="-307975" algn="l" rtl="0">
              <a:spcBef>
                <a:spcPts val="0"/>
              </a:spcBef>
              <a:spcAft>
                <a:spcPts val="0"/>
              </a:spcAft>
              <a:buSzPts val="1250"/>
              <a:buChar char="●"/>
              <a:defRPr/>
            </a:pPr>
            <a:r>
              <a:rPr lang="en" sz="1250" b="1">
                <a:solidFill>
                  <a:srgbClr val="FF0000"/>
                </a:solidFill>
              </a:rPr>
              <a:t>Payload serialization</a:t>
            </a:r>
            <a:r>
              <a:rPr lang="en" sz="1250"/>
              <a:t> to JSON is needed since Payload is a Go struct (ReportPayload) and the job payload column in the database is JSONB and expects JSON type.</a:t>
            </a:r>
            <a:endParaRPr sz="1250"/>
          </a:p>
          <a:p>
            <a:pPr marL="457200" lvl="0" indent="-307975" algn="l" rtl="0">
              <a:spcBef>
                <a:spcPts val="0"/>
              </a:spcBef>
              <a:spcAft>
                <a:spcPts val="0"/>
              </a:spcAft>
              <a:buSzPts val="1250"/>
              <a:buChar char="●"/>
              <a:defRPr/>
            </a:pPr>
            <a:r>
              <a:rPr lang="en" sz="1250"/>
              <a:t>When </a:t>
            </a:r>
            <a:r>
              <a:rPr lang="en" sz="1250" b="1">
                <a:solidFill>
                  <a:srgbClr val="FF0000"/>
                </a:solidFill>
              </a:rPr>
              <a:t>INSERT</a:t>
            </a:r>
            <a:r>
              <a:rPr lang="en" sz="1250"/>
              <a:t>ing the job into the database, the </a:t>
            </a:r>
            <a:r>
              <a:rPr lang="en" sz="1250" b="1">
                <a:solidFill>
                  <a:srgbClr val="FF0000"/>
                </a:solidFill>
              </a:rPr>
              <a:t>RETURNING</a:t>
            </a:r>
            <a:r>
              <a:rPr lang="en" sz="1250"/>
              <a:t> clause is used to make the newly populated columns available to the Go program, which populates the rest of the fields of the the Job Go struct.</a:t>
            </a:r>
            <a:endParaRPr sz="1250"/>
          </a:p>
        </p:txBody>
      </p:sp>
      <p:pic>
        <p:nvPicPr>
          <p:cNvPr id="1369235047" name="Google Shape;100;p18"/>
          <p:cNvPicPr/>
          <p:nvPr/>
        </p:nvPicPr>
        <p:blipFill rotWithShape="1">
          <a:blip r:embed="rId3">
            <a:alphaModFix/>
          </a:blip>
          <a:stretch/>
        </p:blipFill>
        <p:spPr bwMode="auto">
          <a:xfrm>
            <a:off x="3239675" y="1152475"/>
            <a:ext cx="5592635" cy="3416399"/>
          </a:xfrm>
          <a:prstGeom prst="rect">
            <a:avLst/>
          </a:prstGeom>
          <a:noFill/>
          <a:ln>
            <a:noFill/>
          </a:ln>
        </p:spPr>
      </p:pic>
      <p:sp>
        <p:nvSpPr>
          <p:cNvPr id="1987884752" name="Google Shape;101;p18"/>
          <p:cNvSpPr/>
          <p:nvPr/>
        </p:nvSpPr>
        <p:spPr bwMode="auto">
          <a:xfrm>
            <a:off x="3871600" y="1462200"/>
            <a:ext cx="2496600" cy="572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2114585110" name="Google Shape;102;p18"/>
          <p:cNvSpPr/>
          <p:nvPr/>
        </p:nvSpPr>
        <p:spPr bwMode="auto">
          <a:xfrm>
            <a:off x="3871600" y="2086724"/>
            <a:ext cx="4893000" cy="11211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solidFill>
                <a:srgbClr val="FF0000"/>
              </a:solidFill>
            </a:endParaRPr>
          </a:p>
        </p:txBody>
      </p:sp>
      <p:sp>
        <p:nvSpPr>
          <p:cNvPr id="746669391" name="Google Shape;103;p18"/>
          <p:cNvSpPr txBox="1"/>
          <p:nvPr/>
        </p:nvSpPr>
        <p:spPr bwMode="auto">
          <a:xfrm>
            <a:off x="6938623" y="4388100"/>
            <a:ext cx="1733700" cy="3462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defRPr/>
            </a:pPr>
            <a:r>
              <a:rPr lang="en" sz="1050">
                <a:solidFill>
                  <a:srgbClr val="9900FF"/>
                </a:solidFill>
              </a:rPr>
              <a:t>m_jobs.go</a:t>
            </a:r>
            <a:endParaRPr sz="1050">
              <a:solidFill>
                <a:srgbClr val="9900FF"/>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46380834" name="Google Shape;108;p19"/>
          <p:cNvSpPr txBox="1"/>
          <p:nvPr>
            <p:ph type="title"/>
          </p:nvPr>
        </p:nvSpPr>
        <p:spPr bwMode="auto">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defRPr/>
            </a:pPr>
            <a:r>
              <a:rPr lang="en"/>
              <a:t>E</a:t>
            </a:r>
            <a:r>
              <a:rPr lang="en"/>
              <a:t>-</a:t>
            </a:r>
            <a:r>
              <a:rPr lang="en"/>
              <a:t>2) Job Persistence</a:t>
            </a:r>
            <a:endParaRPr/>
          </a:p>
        </p:txBody>
      </p:sp>
      <p:sp>
        <p:nvSpPr>
          <p:cNvPr id="929949362" name="Google Shape;109;p19"/>
          <p:cNvSpPr txBox="1"/>
          <p:nvPr>
            <p:ph type="body" idx="1"/>
          </p:nvPr>
        </p:nvSpPr>
        <p:spPr bwMode="auto">
          <a:xfrm>
            <a:off x="311700" y="1152475"/>
            <a:ext cx="2901600" cy="3416400"/>
          </a:xfrm>
          <a:prstGeom prst="rect">
            <a:avLst/>
          </a:prstGeom>
        </p:spPr>
        <p:txBody>
          <a:bodyPr spcFirstLastPara="1" wrap="square" lIns="91425" tIns="91425" rIns="91425" bIns="91425" anchor="t" anchorCtr="0">
            <a:normAutofit/>
          </a:bodyPr>
          <a:lstStyle/>
          <a:p>
            <a:pPr marL="457200" lvl="0" indent="-307975" algn="l" rtl="0">
              <a:spcBef>
                <a:spcPts val="0"/>
              </a:spcBef>
              <a:spcAft>
                <a:spcPts val="0"/>
              </a:spcAft>
              <a:buSzPts val="1250"/>
              <a:buChar char="●"/>
              <a:defRPr/>
            </a:pPr>
            <a:r>
              <a:rPr lang="en" sz="1250"/>
              <a:t>In the database, the jobs table persists job records. A job has two IDs: a non-public </a:t>
            </a:r>
            <a:r>
              <a:rPr lang="en" sz="1250" b="1">
                <a:solidFill>
                  <a:srgbClr val="FF0000"/>
                </a:solidFill>
              </a:rPr>
              <a:t>id</a:t>
            </a:r>
            <a:r>
              <a:rPr lang="en" sz="1250"/>
              <a:t> of UUIDv7 which has a timestamp component useful for quick indexing, and a </a:t>
            </a:r>
            <a:r>
              <a:rPr lang="en" sz="1250" b="1">
                <a:solidFill>
                  <a:srgbClr val="FF0000"/>
                </a:solidFill>
              </a:rPr>
              <a:t>public_id</a:t>
            </a:r>
            <a:r>
              <a:rPr lang="en" sz="1250"/>
              <a:t> of UUIDv4, which does not have a timestamp component, and reduces exposing the job rate business performance metric.</a:t>
            </a:r>
            <a:endParaRPr sz="1250"/>
          </a:p>
          <a:p>
            <a:pPr marL="457200" lvl="0" indent="-307975" algn="l" rtl="0">
              <a:spcBef>
                <a:spcPts val="0"/>
              </a:spcBef>
              <a:spcAft>
                <a:spcPts val="0"/>
              </a:spcAft>
              <a:buSzPts val="1250"/>
              <a:buChar char="●"/>
              <a:defRPr/>
            </a:pPr>
            <a:r>
              <a:rPr lang="en" sz="1250"/>
              <a:t>The </a:t>
            </a:r>
            <a:r>
              <a:rPr lang="en" sz="1250" b="1">
                <a:solidFill>
                  <a:srgbClr val="FF0000"/>
                </a:solidFill>
              </a:rPr>
              <a:t>status</a:t>
            </a:r>
            <a:r>
              <a:rPr lang="en" sz="1250"/>
              <a:t> column stores the job state, and defaults to the queued status.</a:t>
            </a:r>
            <a:endParaRPr sz="1250"/>
          </a:p>
        </p:txBody>
      </p:sp>
      <p:pic>
        <p:nvPicPr>
          <p:cNvPr id="1281118531" name="Google Shape;110;p19"/>
          <p:cNvPicPr/>
          <p:nvPr/>
        </p:nvPicPr>
        <p:blipFill rotWithShape="1">
          <a:blip r:embed="rId3">
            <a:alphaModFix/>
          </a:blip>
          <a:stretch/>
        </p:blipFill>
        <p:spPr bwMode="auto">
          <a:xfrm>
            <a:off x="3321050" y="1152475"/>
            <a:ext cx="5500549" cy="2717141"/>
          </a:xfrm>
          <a:prstGeom prst="rect">
            <a:avLst/>
          </a:prstGeom>
          <a:noFill/>
          <a:ln>
            <a:noFill/>
          </a:ln>
        </p:spPr>
      </p:pic>
      <p:sp>
        <p:nvSpPr>
          <p:cNvPr id="409559591" name="Google Shape;111;p19"/>
          <p:cNvSpPr/>
          <p:nvPr/>
        </p:nvSpPr>
        <p:spPr bwMode="auto">
          <a:xfrm>
            <a:off x="3413775" y="1709513"/>
            <a:ext cx="4699800" cy="2076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445065064" name="Google Shape;112;p19"/>
          <p:cNvSpPr/>
          <p:nvPr/>
        </p:nvSpPr>
        <p:spPr bwMode="auto">
          <a:xfrm>
            <a:off x="3413775" y="3114725"/>
            <a:ext cx="4699800" cy="1668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2038463461" name="Google Shape;113;p19"/>
          <p:cNvSpPr/>
          <p:nvPr/>
        </p:nvSpPr>
        <p:spPr bwMode="auto">
          <a:xfrm>
            <a:off x="3413775" y="2161663"/>
            <a:ext cx="5315100" cy="1668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pic>
        <p:nvPicPr>
          <p:cNvPr id="1614033538" name="Google Shape;114;p19"/>
          <p:cNvPicPr/>
          <p:nvPr/>
        </p:nvPicPr>
        <p:blipFill rotWithShape="1">
          <a:blip r:embed="rId4">
            <a:alphaModFix/>
          </a:blip>
          <a:stretch/>
        </p:blipFill>
        <p:spPr bwMode="auto">
          <a:xfrm>
            <a:off x="3321050" y="4004375"/>
            <a:ext cx="4699798" cy="847995"/>
          </a:xfrm>
          <a:prstGeom prst="rect">
            <a:avLst/>
          </a:prstGeom>
          <a:noFill/>
          <a:ln>
            <a:noFill/>
          </a:ln>
        </p:spPr>
      </p:pic>
      <p:sp>
        <p:nvSpPr>
          <p:cNvPr id="69455264" name="Google Shape;115;p19"/>
          <p:cNvSpPr txBox="1"/>
          <p:nvPr/>
        </p:nvSpPr>
        <p:spPr bwMode="auto">
          <a:xfrm>
            <a:off x="6910023" y="947174"/>
            <a:ext cx="1733700" cy="3462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defRPr/>
            </a:pPr>
            <a:r>
              <a:rPr lang="en" sz="1050">
                <a:solidFill>
                  <a:srgbClr val="9900FF"/>
                </a:solidFill>
              </a:rPr>
              <a:t>g</a:t>
            </a:r>
            <a:r>
              <a:rPr lang="en" sz="1050">
                <a:solidFill>
                  <a:srgbClr val="9900FF"/>
                </a:solidFill>
              </a:rPr>
              <a:t>atekeeper database</a:t>
            </a:r>
            <a:endParaRPr sz="1050">
              <a:solidFill>
                <a:srgbClr val="9900FF"/>
              </a:solidFill>
            </a:endParaRPr>
          </a:p>
        </p:txBody>
      </p:sp>
      <p:sp>
        <p:nvSpPr>
          <p:cNvPr id="664931808" name="Google Shape;116;p19"/>
          <p:cNvSpPr txBox="1"/>
          <p:nvPr/>
        </p:nvSpPr>
        <p:spPr bwMode="auto">
          <a:xfrm>
            <a:off x="5295402" y="4255275"/>
            <a:ext cx="3526200" cy="3462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defRPr/>
            </a:pPr>
            <a:r>
              <a:rPr lang="en" sz="1050">
                <a:solidFill>
                  <a:srgbClr val="9900FF"/>
                </a:solidFill>
              </a:rPr>
              <a:t>000001_create_init_extensions_and_types.up.sql</a:t>
            </a:r>
            <a:endParaRPr sz="1050">
              <a:solidFill>
                <a:srgbClr val="9900FF"/>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28823698" name="Google Shape;121;p20"/>
          <p:cNvSpPr txBox="1"/>
          <p:nvPr>
            <p:ph type="title"/>
          </p:nvPr>
        </p:nvSpPr>
        <p:spPr bwMode="auto">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defRPr/>
            </a:pPr>
            <a:r>
              <a:rPr lang="en"/>
              <a:t>F) Claiming Jobs Safely</a:t>
            </a:r>
            <a:endParaRPr/>
          </a:p>
        </p:txBody>
      </p:sp>
      <p:sp>
        <p:nvSpPr>
          <p:cNvPr id="976551002" name="Google Shape;122;p20"/>
          <p:cNvSpPr txBox="1"/>
          <p:nvPr>
            <p:ph type="body" idx="1"/>
          </p:nvPr>
        </p:nvSpPr>
        <p:spPr bwMode="auto">
          <a:xfrm>
            <a:off x="311700" y="1152475"/>
            <a:ext cx="2787300" cy="3714900"/>
          </a:xfrm>
          <a:prstGeom prst="rect">
            <a:avLst/>
          </a:prstGeom>
        </p:spPr>
        <p:txBody>
          <a:bodyPr spcFirstLastPara="1" wrap="square" lIns="91425" tIns="91425" rIns="91425" bIns="91425" anchor="t" anchorCtr="0">
            <a:normAutofit lnSpcReduction="20000"/>
          </a:bodyPr>
          <a:lstStyle/>
          <a:p>
            <a:pPr marL="457200" lvl="0" indent="-307975" algn="l" rtl="0">
              <a:spcBef>
                <a:spcPts val="0"/>
              </a:spcBef>
              <a:spcAft>
                <a:spcPts val="0"/>
              </a:spcAft>
              <a:buSzPts val="1250"/>
              <a:buChar char="●"/>
              <a:defRPr/>
            </a:pPr>
            <a:r>
              <a:rPr lang="en" sz="1250"/>
              <a:t>With multiple workers, it makes sense to use a transaction to ensure two workers don’t claim the same job. Also, if there are any errors with committing, any changes are rolled back.</a:t>
            </a:r>
            <a:endParaRPr sz="1250"/>
          </a:p>
          <a:p>
            <a:pPr marL="457200" lvl="0" indent="-307975" algn="l" rtl="0">
              <a:spcBef>
                <a:spcPts val="0"/>
              </a:spcBef>
              <a:spcAft>
                <a:spcPts val="0"/>
              </a:spcAft>
              <a:buSzPts val="1250"/>
              <a:buChar char="●"/>
              <a:defRPr/>
            </a:pPr>
            <a:r>
              <a:rPr lang="en" sz="1250"/>
              <a:t>The </a:t>
            </a:r>
            <a:r>
              <a:rPr lang="en" sz="1250" b="1">
                <a:solidFill>
                  <a:srgbClr val="FF0000"/>
                </a:solidFill>
              </a:rPr>
              <a:t>FOR UPDATE SKIP LOCKED</a:t>
            </a:r>
            <a:r>
              <a:rPr lang="en" sz="1250"/>
              <a:t> clause locks the row during the transaction. If another worker happens to query the same job, it is skipped for next queued job. </a:t>
            </a:r>
            <a:endParaRPr sz="1250"/>
          </a:p>
          <a:p>
            <a:pPr marL="457200" lvl="0" indent="-307975" algn="l" rtl="0">
              <a:spcBef>
                <a:spcPts val="0"/>
              </a:spcBef>
              <a:spcAft>
                <a:spcPts val="0"/>
              </a:spcAft>
              <a:buSzPts val="1250"/>
              <a:buChar char="●"/>
              <a:defRPr/>
            </a:pPr>
            <a:r>
              <a:rPr lang="en" sz="1250"/>
              <a:t>After the job status is set to </a:t>
            </a:r>
            <a:r>
              <a:rPr lang="en" sz="1250" b="1">
                <a:solidFill>
                  <a:srgbClr val="FF0000"/>
                </a:solidFill>
              </a:rPr>
              <a:t>processing</a:t>
            </a:r>
            <a:r>
              <a:rPr lang="en" sz="1250"/>
              <a:t> in the database, the transaction is committed. The job struct’s status is also updated.</a:t>
            </a:r>
            <a:endParaRPr sz="1250"/>
          </a:p>
        </p:txBody>
      </p:sp>
      <p:pic>
        <p:nvPicPr>
          <p:cNvPr id="1947611920" name="Google Shape;123;p20"/>
          <p:cNvPicPr/>
          <p:nvPr/>
        </p:nvPicPr>
        <p:blipFill rotWithShape="1">
          <a:blip r:embed="rId3">
            <a:alphaModFix/>
          </a:blip>
          <a:stretch/>
        </p:blipFill>
        <p:spPr bwMode="auto">
          <a:xfrm>
            <a:off x="3249300" y="1152475"/>
            <a:ext cx="5583001" cy="3684791"/>
          </a:xfrm>
          <a:prstGeom prst="rect">
            <a:avLst/>
          </a:prstGeom>
          <a:noFill/>
          <a:ln>
            <a:noFill/>
          </a:ln>
        </p:spPr>
      </p:pic>
      <p:sp>
        <p:nvSpPr>
          <p:cNvPr id="1546024383" name="Google Shape;124;p20"/>
          <p:cNvSpPr txBox="1"/>
          <p:nvPr/>
        </p:nvSpPr>
        <p:spPr bwMode="auto">
          <a:xfrm>
            <a:off x="6967248" y="4688550"/>
            <a:ext cx="1733700" cy="3462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defRPr/>
            </a:pPr>
            <a:r>
              <a:rPr lang="en" sz="1050">
                <a:solidFill>
                  <a:srgbClr val="9900FF"/>
                </a:solidFill>
              </a:rPr>
              <a:t>m_jobs.go</a:t>
            </a:r>
            <a:endParaRPr sz="1050">
              <a:solidFill>
                <a:srgbClr val="9900FF"/>
              </a:solidFill>
            </a:endParaRPr>
          </a:p>
        </p:txBody>
      </p:sp>
      <p:sp>
        <p:nvSpPr>
          <p:cNvPr id="1845267261" name="Google Shape;125;p20"/>
          <p:cNvSpPr/>
          <p:nvPr/>
        </p:nvSpPr>
        <p:spPr bwMode="auto">
          <a:xfrm>
            <a:off x="4994700" y="2306350"/>
            <a:ext cx="1165800" cy="135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42646655" name="Google Shape;126;p20"/>
          <p:cNvSpPr/>
          <p:nvPr/>
        </p:nvSpPr>
        <p:spPr bwMode="auto">
          <a:xfrm>
            <a:off x="3795950" y="3564500"/>
            <a:ext cx="4997400" cy="952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71842888" name="Google Shape;131;p21"/>
          <p:cNvSpPr txBox="1"/>
          <p:nvPr>
            <p:ph type="title"/>
          </p:nvPr>
        </p:nvSpPr>
        <p:spPr bwMode="auto">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defRPr/>
            </a:pPr>
            <a:r>
              <a:rPr lang="en"/>
              <a:t>G) Worker Behavior</a:t>
            </a:r>
            <a:endParaRPr/>
          </a:p>
        </p:txBody>
      </p:sp>
      <p:sp>
        <p:nvSpPr>
          <p:cNvPr id="57130867" name="Google Shape;132;p21"/>
          <p:cNvSpPr txBox="1"/>
          <p:nvPr>
            <p:ph type="body" idx="1"/>
          </p:nvPr>
        </p:nvSpPr>
        <p:spPr bwMode="auto">
          <a:xfrm flipH="0" flipV="0">
            <a:off x="311699" y="1152474"/>
            <a:ext cx="2799167" cy="3671699"/>
          </a:xfrm>
          <a:prstGeom prst="rect">
            <a:avLst/>
          </a:prstGeom>
        </p:spPr>
        <p:txBody>
          <a:bodyPr spcFirstLastPara="1" vertOverflow="overflow" horzOverflow="overflow" vert="horz" wrap="square" lIns="91424" tIns="91424" rIns="91424" bIns="91424" numCol="1" spcCol="0" rtlCol="0" fromWordArt="0" anchor="t" anchorCtr="0" forceAA="0" upright="0" compatLnSpc="0">
            <a:normAutofit fontScale="80000" lnSpcReduction="4000"/>
          </a:bodyPr>
          <a:lstStyle/>
          <a:p>
            <a:pPr marL="457200" lvl="0" indent="-296069" algn="l" rtl="0">
              <a:spcBef>
                <a:spcPts val="0"/>
              </a:spcBef>
              <a:spcAft>
                <a:spcPts val="0"/>
              </a:spcAft>
              <a:buSzPct val="100000"/>
              <a:buChar char="●"/>
              <a:defRPr/>
            </a:pPr>
            <a:r>
              <a:rPr lang="en" sz="1250"/>
              <a:t>A </a:t>
            </a:r>
            <a:r>
              <a:rPr lang="en" sz="1250" b="1">
                <a:solidFill>
                  <a:srgbClr val="FF0000"/>
                </a:solidFill>
              </a:rPr>
              <a:t>worker goroutine</a:t>
            </a:r>
            <a:r>
              <a:rPr lang="en" sz="1250"/>
              <a:t> starts right before the server starts.</a:t>
            </a:r>
            <a:endParaRPr sz="1250"/>
          </a:p>
          <a:p>
            <a:pPr marL="457200" lvl="0" indent="-296069" algn="l" rtl="0">
              <a:spcBef>
                <a:spcPts val="0"/>
              </a:spcBef>
              <a:spcAft>
                <a:spcPts val="0"/>
              </a:spcAft>
              <a:buSzPct val="100000"/>
              <a:buChar char="●"/>
              <a:defRPr/>
            </a:pPr>
            <a:r>
              <a:rPr lang="en" sz="1250"/>
              <a:t>The app struct in main.go holds the wg </a:t>
            </a:r>
            <a:r>
              <a:rPr lang="en" sz="1250" b="1">
                <a:solidFill>
                  <a:srgbClr val="FF0000"/>
                </a:solidFill>
              </a:rPr>
              <a:t>WaitGroup</a:t>
            </a:r>
            <a:r>
              <a:rPr lang="en" sz="1250"/>
              <a:t> property, accessible to the worker. It is incremented when the worker starts, and ultimately decremented once the worker is stopped by the ctx.Done() channel being closed by </a:t>
            </a:r>
            <a:r>
              <a:rPr lang="en" sz="1250" b="1">
                <a:solidFill>
                  <a:srgbClr val="FF0000"/>
                </a:solidFill>
              </a:rPr>
              <a:t>cancellation</a:t>
            </a:r>
            <a:r>
              <a:rPr lang="en" sz="1250"/>
              <a:t>.</a:t>
            </a:r>
            <a:endParaRPr sz="1250"/>
          </a:p>
          <a:p>
            <a:pPr marL="457200" lvl="0" indent="-296069" algn="l" rtl="0">
              <a:spcBef>
                <a:spcPts val="0"/>
              </a:spcBef>
              <a:spcAft>
                <a:spcPts val="0"/>
              </a:spcAft>
              <a:buSzPct val="100000"/>
              <a:buChar char="●"/>
              <a:defRPr/>
            </a:pPr>
            <a:r>
              <a:rPr lang="en" sz="1250"/>
              <a:t>The </a:t>
            </a:r>
            <a:r>
              <a:rPr lang="en" sz="1250" b="1">
                <a:solidFill>
                  <a:srgbClr val="FF0000"/>
                </a:solidFill>
              </a:rPr>
              <a:t>t</a:t>
            </a:r>
            <a:r>
              <a:rPr lang="en" sz="1250" b="1">
                <a:solidFill>
                  <a:srgbClr val="FF0000"/>
                </a:solidFill>
              </a:rPr>
              <a:t>icker</a:t>
            </a:r>
            <a:r>
              <a:rPr lang="en" sz="1250"/>
              <a:t> implements the worker poll interval. The time is sent to the ticker.C channel, where once read, the worker processes the next report job (processNextReportJob).</a:t>
            </a:r>
            <a:endParaRPr sz="1250"/>
          </a:p>
          <a:p>
            <a:pPr marL="457200" lvl="0" indent="-296069" algn="l" rtl="0">
              <a:spcBef>
                <a:spcPts val="0"/>
              </a:spcBef>
              <a:spcAft>
                <a:spcPts val="0"/>
              </a:spcAft>
              <a:buSzPct val="100000"/>
              <a:buChar char="●"/>
              <a:defRPr/>
            </a:pPr>
            <a:r>
              <a:rPr lang="en" sz="1250"/>
              <a:t>The </a:t>
            </a:r>
            <a:r>
              <a:rPr lang="en" sz="1250" b="1">
                <a:solidFill>
                  <a:srgbClr val="FF0000"/>
                </a:solidFill>
              </a:rPr>
              <a:t>artificial delay</a:t>
            </a:r>
            <a:r>
              <a:rPr lang="en" sz="1250"/>
              <a:t> for report generation is implemented in the processNextReportJob function. It’s only applied when the reportDelay is greater than 0.</a:t>
            </a:r>
            <a:endParaRPr sz="1250"/>
          </a:p>
        </p:txBody>
      </p:sp>
      <p:pic>
        <p:nvPicPr>
          <p:cNvPr id="654912001" name="Google Shape;133;p21"/>
          <p:cNvPicPr/>
          <p:nvPr/>
        </p:nvPicPr>
        <p:blipFill rotWithShape="1">
          <a:blip r:embed="rId3">
            <a:alphaModFix/>
          </a:blip>
          <a:stretch/>
        </p:blipFill>
        <p:spPr bwMode="auto">
          <a:xfrm>
            <a:off x="5093100" y="1017724"/>
            <a:ext cx="3449825" cy="1103925"/>
          </a:xfrm>
          <a:prstGeom prst="rect">
            <a:avLst/>
          </a:prstGeom>
          <a:noFill/>
          <a:ln>
            <a:noFill/>
          </a:ln>
        </p:spPr>
      </p:pic>
      <p:pic>
        <p:nvPicPr>
          <p:cNvPr id="1374804661" name="Google Shape;134;p21"/>
          <p:cNvPicPr/>
          <p:nvPr/>
        </p:nvPicPr>
        <p:blipFill rotWithShape="1">
          <a:blip r:embed="rId4">
            <a:alphaModFix/>
          </a:blip>
          <a:stretch/>
        </p:blipFill>
        <p:spPr bwMode="auto">
          <a:xfrm>
            <a:off x="3218850" y="2258175"/>
            <a:ext cx="5324075" cy="2565874"/>
          </a:xfrm>
          <a:prstGeom prst="rect">
            <a:avLst/>
          </a:prstGeom>
          <a:noFill/>
          <a:ln>
            <a:noFill/>
          </a:ln>
        </p:spPr>
      </p:pic>
      <p:sp>
        <p:nvSpPr>
          <p:cNvPr id="642530790" name="Google Shape;135;p21"/>
          <p:cNvSpPr txBox="1"/>
          <p:nvPr/>
        </p:nvSpPr>
        <p:spPr bwMode="auto">
          <a:xfrm>
            <a:off x="7098598" y="1591000"/>
            <a:ext cx="1733700" cy="3462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defRPr/>
            </a:pPr>
            <a:r>
              <a:rPr lang="en" sz="1050">
                <a:solidFill>
                  <a:srgbClr val="9900FF"/>
                </a:solidFill>
              </a:rPr>
              <a:t>main</a:t>
            </a:r>
            <a:r>
              <a:rPr lang="en" sz="1050">
                <a:solidFill>
                  <a:srgbClr val="9900FF"/>
                </a:solidFill>
              </a:rPr>
              <a:t>.go</a:t>
            </a:r>
            <a:endParaRPr sz="1050">
              <a:solidFill>
                <a:srgbClr val="9900FF"/>
              </a:solidFill>
            </a:endParaRPr>
          </a:p>
        </p:txBody>
      </p:sp>
      <p:sp>
        <p:nvSpPr>
          <p:cNvPr id="2051351199" name="Google Shape;136;p21"/>
          <p:cNvSpPr txBox="1"/>
          <p:nvPr/>
        </p:nvSpPr>
        <p:spPr bwMode="auto">
          <a:xfrm>
            <a:off x="7098598" y="4597725"/>
            <a:ext cx="1733700" cy="3462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defRPr/>
            </a:pPr>
            <a:r>
              <a:rPr lang="en" sz="1050">
                <a:solidFill>
                  <a:srgbClr val="9900FF"/>
                </a:solidFill>
              </a:rPr>
              <a:t>worker</a:t>
            </a:r>
            <a:r>
              <a:rPr lang="en" sz="1050">
                <a:solidFill>
                  <a:srgbClr val="9900FF"/>
                </a:solidFill>
              </a:rPr>
              <a:t>.go</a:t>
            </a:r>
            <a:endParaRPr sz="1050">
              <a:solidFill>
                <a:srgbClr val="9900FF"/>
              </a:solidFill>
            </a:endParaRPr>
          </a:p>
        </p:txBody>
      </p:sp>
      <p:sp>
        <p:nvSpPr>
          <p:cNvPr id="355301408" name="Google Shape;137;p21"/>
          <p:cNvSpPr/>
          <p:nvPr/>
        </p:nvSpPr>
        <p:spPr bwMode="auto">
          <a:xfrm>
            <a:off x="5573250" y="1319150"/>
            <a:ext cx="1474500" cy="135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1778541840" name="Google Shape;138;p21"/>
          <p:cNvSpPr/>
          <p:nvPr/>
        </p:nvSpPr>
        <p:spPr bwMode="auto">
          <a:xfrm>
            <a:off x="4262450" y="3937400"/>
            <a:ext cx="1733700" cy="135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pic>
        <p:nvPicPr>
          <p:cNvPr id="2098134934" name="Google Shape;139;p21"/>
          <p:cNvPicPr/>
          <p:nvPr/>
        </p:nvPicPr>
        <p:blipFill rotWithShape="1">
          <a:blip r:embed="rId5">
            <a:alphaModFix/>
          </a:blip>
          <a:stretch/>
        </p:blipFill>
        <p:spPr bwMode="auto">
          <a:xfrm>
            <a:off x="6640050" y="3014600"/>
            <a:ext cx="2234851" cy="756025"/>
          </a:xfrm>
          <a:prstGeom prst="rect">
            <a:avLst/>
          </a:prstGeom>
          <a:noFill/>
          <a:ln w="19050" cap="flat" cmpd="sng">
            <a:solidFill>
              <a:srgbClr val="FF0000"/>
            </a:solidFill>
            <a:prstDash val="solid"/>
            <a:round/>
            <a:headEnd type="none" w="sm" len="sm"/>
            <a:tailEnd type="none" w="sm" len="sm"/>
          </a:ln>
        </p:spPr>
      </p:pic>
      <p:sp>
        <p:nvSpPr>
          <p:cNvPr id="1919797186" name="Google Shape;140;p21"/>
          <p:cNvSpPr txBox="1"/>
          <p:nvPr/>
        </p:nvSpPr>
        <p:spPr bwMode="auto">
          <a:xfrm>
            <a:off x="7440300" y="3693225"/>
            <a:ext cx="1392000" cy="315600"/>
          </a:xfrm>
          <a:prstGeom prst="rect">
            <a:avLst/>
          </a:prstGeom>
          <a:solidFill>
            <a:schemeClr val="lt1"/>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defRPr/>
            </a:pPr>
            <a:r>
              <a:rPr lang="en" sz="850">
                <a:solidFill>
                  <a:srgbClr val="FF0000"/>
                </a:solidFill>
              </a:rPr>
              <a:t>processNextReportJob</a:t>
            </a:r>
            <a:endParaRPr sz="850">
              <a:solidFill>
                <a:srgbClr val="FF0000"/>
              </a:solidFill>
            </a:endParaRPr>
          </a:p>
        </p:txBody>
      </p:sp>
      <p:cxnSp>
        <p:nvCxnSpPr>
          <p:cNvPr id="1675240421" name="Google Shape;141;p21"/>
          <p:cNvCxnSpPr>
            <a:endCxn id="2098134934" idx="1"/>
          </p:cNvCxnSpPr>
          <p:nvPr/>
        </p:nvCxnSpPr>
        <p:spPr bwMode="auto">
          <a:xfrm rot="10800000" flipH="1">
            <a:off x="6003450" y="3392613"/>
            <a:ext cx="636600" cy="616200"/>
          </a:xfrm>
          <a:prstGeom prst="straightConnector1">
            <a:avLst/>
          </a:prstGeom>
          <a:noFill/>
          <a:ln w="19050" cap="flat" cmpd="sng">
            <a:solidFill>
              <a:srgbClr val="FF0000"/>
            </a:solidFill>
            <a:prstDash val="solid"/>
            <a:round/>
            <a:headEnd type="none" w="med" len="med"/>
            <a:tailEnd type="triangle" w="med" len="med"/>
          </a:ln>
        </p:spPr>
      </p:cxnSp>
      <p:sp>
        <p:nvSpPr>
          <p:cNvPr id="1009658199" name="Google Shape;142;p21"/>
          <p:cNvSpPr/>
          <p:nvPr/>
        </p:nvSpPr>
        <p:spPr bwMode="auto">
          <a:xfrm>
            <a:off x="3880000" y="2783800"/>
            <a:ext cx="2602800" cy="5076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1237031761" name="Google Shape;143;p21"/>
          <p:cNvSpPr/>
          <p:nvPr/>
        </p:nvSpPr>
        <p:spPr bwMode="auto">
          <a:xfrm>
            <a:off x="3729775" y="2465900"/>
            <a:ext cx="671100" cy="135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98037441" name="Google Shape;148;p22"/>
          <p:cNvSpPr txBox="1"/>
          <p:nvPr>
            <p:ph type="title"/>
          </p:nvPr>
        </p:nvSpPr>
        <p:spPr bwMode="auto">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defRPr/>
            </a:pPr>
            <a:r>
              <a:rPr lang="en"/>
              <a:t>H) Report SQL &amp; Outcomes</a:t>
            </a:r>
            <a:endParaRPr/>
          </a:p>
        </p:txBody>
      </p:sp>
      <p:sp>
        <p:nvSpPr>
          <p:cNvPr id="23377952" name="Google Shape;149;p22"/>
          <p:cNvSpPr txBox="1"/>
          <p:nvPr>
            <p:ph type="body" idx="1"/>
          </p:nvPr>
        </p:nvSpPr>
        <p:spPr bwMode="auto">
          <a:xfrm>
            <a:off x="311700" y="1152475"/>
            <a:ext cx="2908800" cy="3416400"/>
          </a:xfrm>
          <a:prstGeom prst="rect">
            <a:avLst/>
          </a:prstGeom>
        </p:spPr>
        <p:txBody>
          <a:bodyPr spcFirstLastPara="1" wrap="square" lIns="91425" tIns="91425" rIns="91425" bIns="91425" anchor="t" anchorCtr="0">
            <a:normAutofit fontScale="85000" lnSpcReduction="20000"/>
          </a:bodyPr>
          <a:lstStyle/>
          <a:p>
            <a:pPr marL="457200" lvl="0" indent="-296069" algn="l" rtl="0">
              <a:spcBef>
                <a:spcPts val="0"/>
              </a:spcBef>
              <a:spcAft>
                <a:spcPts val="0"/>
              </a:spcAft>
              <a:buSzPct val="100000"/>
              <a:buChar char="●"/>
              <a:defRPr/>
            </a:pPr>
            <a:r>
              <a:rPr lang="en" sz="1250" b="1">
                <a:solidFill>
                  <a:srgbClr val="FF0000"/>
                </a:solidFill>
              </a:rPr>
              <a:t>LEFT (OUTER) JOINs</a:t>
            </a:r>
            <a:r>
              <a:rPr lang="en" sz="1250"/>
              <a:t> are used successively on the api_keys and jobs tables with the consumers table being on the left. The leftmost table always includes all records of that table.</a:t>
            </a:r>
            <a:endParaRPr sz="1250"/>
          </a:p>
          <a:p>
            <a:pPr marL="457200" lvl="0" indent="-296069" algn="l" rtl="0">
              <a:spcBef>
                <a:spcPts val="0"/>
              </a:spcBef>
              <a:spcAft>
                <a:spcPts val="0"/>
              </a:spcAft>
              <a:buSzPct val="100000"/>
              <a:buChar char="●"/>
              <a:defRPr/>
            </a:pPr>
            <a:r>
              <a:rPr lang="en" sz="1250"/>
              <a:t>In order to properly use </a:t>
            </a:r>
            <a:r>
              <a:rPr lang="en" sz="1250" b="1">
                <a:solidFill>
                  <a:srgbClr val="FF0000"/>
                </a:solidFill>
              </a:rPr>
              <a:t>COUNT aggregation</a:t>
            </a:r>
            <a:r>
              <a:rPr lang="en" sz="1250"/>
              <a:t>, </a:t>
            </a:r>
            <a:r>
              <a:rPr lang="en" sz="1250" b="1">
                <a:solidFill>
                  <a:srgbClr val="FF0000"/>
                </a:solidFill>
              </a:rPr>
              <a:t>DISTINCT</a:t>
            </a:r>
            <a:r>
              <a:rPr lang="en" sz="1250"/>
              <a:t> was applied on IDs and </a:t>
            </a:r>
            <a:r>
              <a:rPr lang="en" sz="1250" b="1">
                <a:solidFill>
                  <a:srgbClr val="FF0000"/>
                </a:solidFill>
              </a:rPr>
              <a:t>FILTER</a:t>
            </a:r>
            <a:r>
              <a:rPr lang="en" sz="1250"/>
              <a:t> was applied on the statuses, which would be duplicated by the 2 LEFT JOINs.</a:t>
            </a:r>
            <a:endParaRPr sz="1250"/>
          </a:p>
          <a:p>
            <a:pPr marL="457200" lvl="0" indent="-296069" algn="l" rtl="0">
              <a:spcBef>
                <a:spcPts val="0"/>
              </a:spcBef>
              <a:spcAft>
                <a:spcPts val="0"/>
              </a:spcAft>
              <a:buSzPct val="100000"/>
              <a:buChar char="●"/>
              <a:defRPr/>
            </a:pPr>
            <a:r>
              <a:rPr lang="en" sz="1250"/>
              <a:t>The </a:t>
            </a:r>
            <a:r>
              <a:rPr lang="en" sz="1250" b="1">
                <a:solidFill>
                  <a:srgbClr val="FF0000"/>
                </a:solidFill>
              </a:rPr>
              <a:t>completed result</a:t>
            </a:r>
            <a:r>
              <a:rPr lang="en" sz="1250"/>
              <a:t> is then scanned into the ConsumerActivityReport Go struct, which is later returned to the client as JSON.</a:t>
            </a:r>
            <a:endParaRPr sz="1250"/>
          </a:p>
          <a:p>
            <a:pPr marL="457200" lvl="0" indent="-296069" algn="l" rtl="0">
              <a:spcBef>
                <a:spcPts val="0"/>
              </a:spcBef>
              <a:spcAft>
                <a:spcPts val="0"/>
              </a:spcAft>
              <a:buSzPct val="100000"/>
              <a:buChar char="●"/>
              <a:defRPr/>
            </a:pPr>
            <a:r>
              <a:rPr lang="en" sz="1250" b="1">
                <a:solidFill>
                  <a:srgbClr val="FF0000"/>
                </a:solidFill>
              </a:rPr>
              <a:t>sql.ErrNoRows</a:t>
            </a:r>
            <a:r>
              <a:rPr lang="en" sz="1250"/>
              <a:t> is one of the specific </a:t>
            </a:r>
            <a:r>
              <a:rPr lang="en" sz="1250" b="1">
                <a:solidFill>
                  <a:srgbClr val="FF0000"/>
                </a:solidFill>
              </a:rPr>
              <a:t>recorded failures</a:t>
            </a:r>
            <a:r>
              <a:rPr lang="en" sz="1250"/>
              <a:t>. This particular error occurs when the consumer ID provided does not exist in the database.</a:t>
            </a:r>
            <a:endParaRPr sz="1250"/>
          </a:p>
        </p:txBody>
      </p:sp>
      <p:pic>
        <p:nvPicPr>
          <p:cNvPr id="2108655215" name="Google Shape;150;p22"/>
          <p:cNvPicPr/>
          <p:nvPr/>
        </p:nvPicPr>
        <p:blipFill rotWithShape="1">
          <a:blip r:embed="rId3">
            <a:alphaModFix/>
          </a:blip>
          <a:stretch/>
        </p:blipFill>
        <p:spPr bwMode="auto">
          <a:xfrm>
            <a:off x="3424600" y="1017724"/>
            <a:ext cx="5407691" cy="3820974"/>
          </a:xfrm>
          <a:prstGeom prst="rect">
            <a:avLst/>
          </a:prstGeom>
          <a:noFill/>
          <a:ln>
            <a:noFill/>
          </a:ln>
        </p:spPr>
      </p:pic>
      <p:sp>
        <p:nvSpPr>
          <p:cNvPr id="250311169" name="Google Shape;151;p22"/>
          <p:cNvSpPr txBox="1"/>
          <p:nvPr/>
        </p:nvSpPr>
        <p:spPr bwMode="auto">
          <a:xfrm>
            <a:off x="6948373" y="4647800"/>
            <a:ext cx="1733700" cy="3462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defRPr/>
            </a:pPr>
            <a:r>
              <a:rPr lang="en" sz="1050">
                <a:solidFill>
                  <a:srgbClr val="9900FF"/>
                </a:solidFill>
              </a:rPr>
              <a:t>m_reports.go</a:t>
            </a:r>
            <a:endParaRPr sz="1050">
              <a:solidFill>
                <a:srgbClr val="9900FF"/>
              </a:solidFill>
            </a:endParaRPr>
          </a:p>
        </p:txBody>
      </p:sp>
      <p:sp>
        <p:nvSpPr>
          <p:cNvPr id="751067053" name="Google Shape;152;p22"/>
          <p:cNvSpPr/>
          <p:nvPr/>
        </p:nvSpPr>
        <p:spPr bwMode="auto">
          <a:xfrm>
            <a:off x="4151850" y="2146275"/>
            <a:ext cx="2187600" cy="346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940763317" name="Google Shape;153;p22"/>
          <p:cNvSpPr/>
          <p:nvPr/>
        </p:nvSpPr>
        <p:spPr bwMode="auto">
          <a:xfrm>
            <a:off x="4332875" y="1462550"/>
            <a:ext cx="2958000" cy="672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1537513824" name="Google Shape;154;p22"/>
          <p:cNvSpPr/>
          <p:nvPr/>
        </p:nvSpPr>
        <p:spPr bwMode="auto">
          <a:xfrm>
            <a:off x="3953725" y="3793800"/>
            <a:ext cx="1892400" cy="730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2027601895" name="Google Shape;155;p22"/>
          <p:cNvSpPr/>
          <p:nvPr/>
        </p:nvSpPr>
        <p:spPr bwMode="auto">
          <a:xfrm>
            <a:off x="3953725" y="3221100"/>
            <a:ext cx="4424700" cy="572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05149043" name="Google Shape;160;p23"/>
          <p:cNvSpPr txBox="1"/>
          <p:nvPr>
            <p:ph type="title"/>
          </p:nvPr>
        </p:nvSpPr>
        <p:spPr bwMode="auto">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defRPr/>
            </a:pPr>
            <a:r>
              <a:rPr lang="en"/>
              <a:t>I) Graceful Shutdown</a:t>
            </a:r>
            <a:endParaRPr/>
          </a:p>
        </p:txBody>
      </p:sp>
      <p:sp>
        <p:nvSpPr>
          <p:cNvPr id="452877501" name="Google Shape;161;p23"/>
          <p:cNvSpPr txBox="1"/>
          <p:nvPr>
            <p:ph type="body" idx="1"/>
          </p:nvPr>
        </p:nvSpPr>
        <p:spPr bwMode="auto">
          <a:xfrm>
            <a:off x="311700" y="1152475"/>
            <a:ext cx="4117800" cy="3686100"/>
          </a:xfrm>
          <a:prstGeom prst="rect">
            <a:avLst/>
          </a:prstGeom>
        </p:spPr>
        <p:txBody>
          <a:bodyPr spcFirstLastPara="1" wrap="square" lIns="91425" tIns="91425" rIns="91425" bIns="91425" anchor="t" anchorCtr="0">
            <a:normAutofit lnSpcReduction="10000"/>
          </a:bodyPr>
          <a:lstStyle/>
          <a:p>
            <a:pPr marL="457200" lvl="0" indent="-307975" algn="l" rtl="0">
              <a:spcBef>
                <a:spcPts val="0"/>
              </a:spcBef>
              <a:spcAft>
                <a:spcPts val="0"/>
              </a:spcAft>
              <a:buSzPts val="1250"/>
              <a:buChar char="●"/>
              <a:defRPr/>
            </a:pPr>
            <a:r>
              <a:rPr lang="en" sz="1250"/>
              <a:t>The server’s </a:t>
            </a:r>
            <a:r>
              <a:rPr lang="en" sz="1250" b="1">
                <a:solidFill>
                  <a:srgbClr val="FF0000"/>
                </a:solidFill>
              </a:rPr>
              <a:t>shutdown signal</a:t>
            </a:r>
            <a:r>
              <a:rPr lang="en" sz="1250"/>
              <a:t> monitoring is handled by another goroutine. The single buffered os.Signal channel is configured to listen for SIGINT (Ctrl + C) or SIGTERM (pkill -15). The goroutine blocks until one of those signals is received. Then, background tasks are completed.</a:t>
            </a:r>
            <a:endParaRPr sz="1250"/>
          </a:p>
          <a:p>
            <a:pPr marL="457200" lvl="0" indent="-307975" algn="l" rtl="0">
              <a:spcBef>
                <a:spcPts val="0"/>
              </a:spcBef>
              <a:spcAft>
                <a:spcPts val="0"/>
              </a:spcAft>
              <a:buSzPts val="1250"/>
              <a:buChar char="●"/>
              <a:defRPr/>
            </a:pPr>
            <a:r>
              <a:rPr lang="en" sz="1250" b="1">
                <a:solidFill>
                  <a:srgbClr val="FF0000"/>
                </a:solidFill>
              </a:rPr>
              <a:t>Worker cancellation</a:t>
            </a:r>
            <a:r>
              <a:rPr lang="en" sz="1250"/>
              <a:t> occurs as part of background task completion. app.workerCancel calls the workerCtx in main.go that was passed to the worker. This is what ultimately causes the worker goroutine to return.</a:t>
            </a:r>
            <a:endParaRPr sz="1250"/>
          </a:p>
          <a:p>
            <a:pPr marL="457200" lvl="0" indent="-307975" algn="l" rtl="0">
              <a:spcBef>
                <a:spcPts val="0"/>
              </a:spcBef>
              <a:spcAft>
                <a:spcPts val="0"/>
              </a:spcAft>
              <a:buSzPts val="1250"/>
              <a:buChar char="●"/>
              <a:defRPr/>
            </a:pPr>
            <a:r>
              <a:rPr lang="en" sz="1250"/>
              <a:t>The </a:t>
            </a:r>
            <a:r>
              <a:rPr lang="en" sz="1250" b="1">
                <a:solidFill>
                  <a:srgbClr val="FF0000"/>
                </a:solidFill>
              </a:rPr>
              <a:t>app.wg.Wait()</a:t>
            </a:r>
            <a:r>
              <a:rPr lang="en" sz="1250"/>
              <a:t> call blocks until the worker, who </a:t>
            </a:r>
            <a:r>
              <a:rPr lang="en" sz="1250"/>
              <a:t>initially</a:t>
            </a:r>
            <a:r>
              <a:rPr lang="en" sz="1250"/>
              <a:t> incremented the counter, decrements it, signalling that the worker has gracefully shutdown. After, the goroutine here completes and serve() proceeds to shut down the HTTP server.</a:t>
            </a:r>
            <a:endParaRPr sz="1250"/>
          </a:p>
        </p:txBody>
      </p:sp>
      <p:pic>
        <p:nvPicPr>
          <p:cNvPr id="536563752" name="Google Shape;162;p23"/>
          <p:cNvPicPr/>
          <p:nvPr/>
        </p:nvPicPr>
        <p:blipFill rotWithShape="1">
          <a:blip r:embed="rId3">
            <a:alphaModFix/>
          </a:blip>
          <a:stretch/>
        </p:blipFill>
        <p:spPr bwMode="auto">
          <a:xfrm>
            <a:off x="4703500" y="305075"/>
            <a:ext cx="3918125" cy="4533351"/>
          </a:xfrm>
          <a:prstGeom prst="rect">
            <a:avLst/>
          </a:prstGeom>
          <a:noFill/>
          <a:ln>
            <a:noFill/>
          </a:ln>
        </p:spPr>
      </p:pic>
      <p:sp>
        <p:nvSpPr>
          <p:cNvPr id="1491324770" name="Google Shape;163;p23"/>
          <p:cNvSpPr txBox="1"/>
          <p:nvPr/>
        </p:nvSpPr>
        <p:spPr bwMode="auto">
          <a:xfrm>
            <a:off x="7205923" y="4669250"/>
            <a:ext cx="1733700" cy="3462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defRPr/>
            </a:pPr>
            <a:r>
              <a:rPr lang="en" sz="1050">
                <a:solidFill>
                  <a:srgbClr val="9900FF"/>
                </a:solidFill>
              </a:rPr>
              <a:t>server</a:t>
            </a:r>
            <a:r>
              <a:rPr lang="en" sz="1050">
                <a:solidFill>
                  <a:srgbClr val="9900FF"/>
                </a:solidFill>
              </a:rPr>
              <a:t>.go</a:t>
            </a:r>
            <a:endParaRPr sz="1050">
              <a:solidFill>
                <a:srgbClr val="9900FF"/>
              </a:solidFill>
            </a:endParaRPr>
          </a:p>
        </p:txBody>
      </p:sp>
      <p:sp>
        <p:nvSpPr>
          <p:cNvPr id="387059430" name="Google Shape;164;p23"/>
          <p:cNvSpPr/>
          <p:nvPr/>
        </p:nvSpPr>
        <p:spPr bwMode="auto">
          <a:xfrm>
            <a:off x="5284299" y="1534075"/>
            <a:ext cx="3287100" cy="4146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318524203" name="Google Shape;165;p23"/>
          <p:cNvSpPr/>
          <p:nvPr/>
        </p:nvSpPr>
        <p:spPr bwMode="auto">
          <a:xfrm>
            <a:off x="5284299" y="2766675"/>
            <a:ext cx="1212599" cy="346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488583620" name="Google Shape;166;p23"/>
          <p:cNvSpPr/>
          <p:nvPr/>
        </p:nvSpPr>
        <p:spPr bwMode="auto">
          <a:xfrm>
            <a:off x="5284299" y="3176600"/>
            <a:ext cx="2757900" cy="2028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21190598" name="Google Shape;171;p24"/>
          <p:cNvSpPr txBox="1"/>
          <p:nvPr>
            <p:ph type="title"/>
          </p:nvPr>
        </p:nvSpPr>
        <p:spPr bwMode="auto">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defRPr/>
            </a:pPr>
            <a:r>
              <a:rPr lang="en"/>
              <a:t>J) Measurements &amp; Interpretation</a:t>
            </a:r>
            <a:endParaRPr/>
          </a:p>
        </p:txBody>
      </p:sp>
      <p:sp>
        <p:nvSpPr>
          <p:cNvPr id="608307175" name="Google Shape;172;p24"/>
          <p:cNvSpPr txBox="1"/>
          <p:nvPr>
            <p:ph type="body" idx="1"/>
          </p:nvPr>
        </p:nvSpPr>
        <p:spPr bwMode="auto">
          <a:xfrm>
            <a:off x="311700" y="2900100"/>
            <a:ext cx="8520600" cy="2046000"/>
          </a:xfrm>
          <a:prstGeom prst="rect">
            <a:avLst/>
          </a:prstGeom>
        </p:spPr>
        <p:txBody>
          <a:bodyPr spcFirstLastPara="1" wrap="square" lIns="91425" tIns="91425" rIns="91425" bIns="91425" anchor="t" anchorCtr="0">
            <a:normAutofit fontScale="77500"/>
          </a:bodyPr>
          <a:lstStyle/>
          <a:p>
            <a:pPr marL="457200" lvl="0" indent="-317183" algn="l" rtl="0">
              <a:spcBef>
                <a:spcPts val="0"/>
              </a:spcBef>
              <a:spcAft>
                <a:spcPts val="0"/>
              </a:spcAft>
              <a:buSzPct val="100000"/>
              <a:buChar char="●"/>
              <a:defRPr/>
            </a:pPr>
            <a:r>
              <a:rPr lang="en"/>
              <a:t>In this implementation, acknowledgment time (T_ack) represented the point after which the 202 Accepted response was sent for the initial POST request.</a:t>
            </a:r>
            <a:endParaRPr/>
          </a:p>
          <a:p>
            <a:pPr marL="457200" lvl="0" indent="-317183" algn="l" rtl="0">
              <a:spcBef>
                <a:spcPts val="0"/>
              </a:spcBef>
              <a:spcAft>
                <a:spcPts val="0"/>
              </a:spcAft>
              <a:buSzPct val="100000"/>
              <a:buChar char="●"/>
              <a:defRPr/>
            </a:pPr>
            <a:r>
              <a:rPr lang="en"/>
              <a:t>The completion time (T_complete) represented the point in the implementation after which the worker completed report generation and the client polled the last GET request with the result.</a:t>
            </a:r>
            <a:endParaRPr/>
          </a:p>
          <a:p>
            <a:pPr marL="457200" lvl="0" indent="-317183" algn="l" rtl="0">
              <a:spcBef>
                <a:spcPts val="0"/>
              </a:spcBef>
              <a:spcAft>
                <a:spcPts val="0"/>
              </a:spcAft>
              <a:buClr>
                <a:srgbClr val="FF0000"/>
              </a:buClr>
              <a:buSzPct val="100000"/>
              <a:buChar char="●"/>
              <a:defRPr/>
            </a:pPr>
            <a:r>
              <a:rPr lang="en" b="1">
                <a:solidFill>
                  <a:srgbClr val="FF0000"/>
                </a:solidFill>
              </a:rPr>
              <a:t>Based on the measurements and controlled experimental condition, the current contract is satisfied, the acknowledgment time was independent of the delay, and the acknowledgment time stayed consistently low compared to the synchronous implementation in Laboratory 1.</a:t>
            </a:r>
            <a:endParaRPr b="1">
              <a:solidFill>
                <a:srgbClr val="FF0000"/>
              </a:solidFill>
            </a:endParaRPr>
          </a:p>
        </p:txBody>
      </p:sp>
      <p:pic>
        <p:nvPicPr>
          <p:cNvPr id="164056739" name="Google Shape;173;p24"/>
          <p:cNvPicPr/>
          <p:nvPr/>
        </p:nvPicPr>
        <p:blipFill rotWithShape="1">
          <a:blip r:embed="rId3">
            <a:alphaModFix/>
          </a:blip>
          <a:stretch/>
        </p:blipFill>
        <p:spPr bwMode="auto">
          <a:xfrm>
            <a:off x="924726" y="1059851"/>
            <a:ext cx="6945750" cy="171212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63883283" name="Google Shape;178;p25"/>
          <p:cNvSpPr txBox="1"/>
          <p:nvPr>
            <p:ph type="title"/>
          </p:nvPr>
        </p:nvSpPr>
        <p:spPr bwMode="auto">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defRPr/>
            </a:pPr>
            <a:r>
              <a:rPr lang="en"/>
              <a:t>Starter Code Differences</a:t>
            </a:r>
            <a:endParaRPr/>
          </a:p>
        </p:txBody>
      </p:sp>
      <p:sp>
        <p:nvSpPr>
          <p:cNvPr id="809298848" name="Google Shape;179;p25"/>
          <p:cNvSpPr txBox="1"/>
          <p:nvPr>
            <p:ph type="body" idx="1"/>
          </p:nvPr>
        </p:nvSpPr>
        <p:spPr bwMode="auto">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defRPr/>
            </a:pPr>
            <a:r>
              <a:rPr lang="en"/>
              <a:t>Small differences made to the starter code are documented below. The difference in implementation does not change the architecture and the changes were made for convenience or usage in previous projects.</a:t>
            </a:r>
            <a:endParaRPr/>
          </a:p>
          <a:p>
            <a:pPr marL="457200" lvl="0" indent="-342900" algn="l" rtl="0">
              <a:spcBef>
                <a:spcPts val="1200"/>
              </a:spcBef>
              <a:spcAft>
                <a:spcPts val="0"/>
              </a:spcAft>
              <a:buSzPts val="1800"/>
              <a:buChar char="●"/>
              <a:defRPr/>
            </a:pPr>
            <a:r>
              <a:rPr lang="en"/>
              <a:t>The PostgreSQL citext extension creation was moved to the first migration (000001_create_init_extensions_and_types.up.sql) instead of manually creating it.</a:t>
            </a:r>
            <a:endParaRPr/>
          </a:p>
          <a:p>
            <a:pPr marL="457200" lvl="0" indent="-342900" algn="l" rtl="0">
              <a:spcBef>
                <a:spcPts val="0"/>
              </a:spcBef>
              <a:spcAft>
                <a:spcPts val="0"/>
              </a:spcAft>
              <a:buSzPts val="1800"/>
              <a:buChar char="●"/>
              <a:defRPr/>
            </a:pPr>
            <a:r>
              <a:rPr lang="en"/>
              <a:t>The </a:t>
            </a:r>
            <a:r>
              <a:rPr lang="en" u="sng">
                <a:solidFill>
                  <a:schemeClr val="hlink"/>
                </a:solidFill>
                <a:hlinkClick r:id="rId3" tooltip=""/>
              </a:rPr>
              <a:t>github.com/julienschmidt/httprouter</a:t>
            </a:r>
            <a:r>
              <a:rPr lang="en"/>
              <a:t> package was used instead of the provided mux := http.NewServeMux(). This package was used in previous projects, and functionally works the same for configuring routes and serving the endpoints.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ONLYOFFICE/9.1.0.173</Application>
  <PresentationFormat>On-screen Show (4:3)</PresentationFormat>
  <Paragraphs>0</Paragraphs>
  <Slides>13</Slides>
  <Notes>13</Notes>
  <HiddenSlides>0</HiddenSlides>
  <MMClips>2</MMClips>
  <ScaleCrop>0</ScaleCrop>
  <HeadingPairs>
    <vt:vector size="4" baseType="variant">
      <vt:variant>
        <vt:lpstr>Theme</vt:lpstr>
      </vt:variant>
      <vt:variant>
        <vt:i4>1</vt:i4>
      </vt:variant>
      <vt:variant>
        <vt:lpstr>Slide Titles</vt:lpstr>
      </vt:variant>
      <vt:variant>
        <vt:i4>13</vt:i4>
      </vt:variant>
    </vt:vector>
  </HeadingPairs>
  <TitlesOfParts>
    <vt:vector size="14"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coreProperties>
</file>